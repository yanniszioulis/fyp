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258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279" r:id="rId21"/>
    <p:sldId id="317" r:id="rId22"/>
    <p:sldId id="318" r:id="rId23"/>
  </p:sldIdLst>
  <p:sldSz cx="12192000" cy="6858000"/>
  <p:notesSz cx="6858000" cy="9144000"/>
  <p:defaultTextStyle>
    <a:defPPr>
      <a:defRPr lang="en-US"/>
    </a:defPPr>
    <a:lvl1pPr marL="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7942"/>
    <a:srgbClr val="FBF7DC"/>
    <a:srgbClr val="F8F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72" autoAdjust="0"/>
    <p:restoredTop sz="62671"/>
  </p:normalViewPr>
  <p:slideViewPr>
    <p:cSldViewPr snapToGrid="0" showGuides="1">
      <p:cViewPr varScale="1">
        <p:scale>
          <a:sx n="77" d="100"/>
          <a:sy n="77" d="100"/>
        </p:scale>
        <p:origin x="226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E0D2A8-8F95-47C2-ABE1-A779F5A43C98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663E2-27CE-4C79-91D3-7F5C4262D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59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Options are insurance against market moves — their price, on a common scale, is implied volatility.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Across strikes and maturities = IV surface — a daily snapshot of expected risk.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Options desks price, hedge, manage risk — and hedging and risk depend on how it </a:t>
            </a:r>
            <a:r>
              <a:rPr lang="en-GB" i="1" dirty="0"/>
              <a:t>moves</a:t>
            </a:r>
            <a:r>
              <a:rPr lang="en-GB" dirty="0"/>
              <a:t>, not today's.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Forecasting the full surface ahead is the open gap. </a:t>
            </a:r>
            <a:br>
              <a:rPr lang="en-GB" dirty="0"/>
            </a:br>
            <a:br>
              <a:rPr lang="en-GB" dirty="0"/>
            </a:br>
            <a:r>
              <a:rPr lang="en-GB" i="1" dirty="0"/>
              <a:t>(RQ)</a:t>
            </a:r>
            <a:r>
              <a:rPr lang="en-GB" dirty="0"/>
              <a:t> Is a model that respects the surface's structure better able to forecast it, multiple steps ahead, from its own history?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858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Indices fall faster than they rise → downside insurance (low strikes) costs more → the skew.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Longer-dated usually implies higher vol → term structure slopes up (can invert under stress).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Short-term: highly persistent, tomorrow ≈ today.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Most daily movement = one shared level shift (&gt;90% of variance).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Longer-term: level </a:t>
            </a:r>
            <a:r>
              <a:rPr lang="en-GB" i="1" dirty="0"/>
              <a:t>and</a:t>
            </a:r>
            <a:r>
              <a:rPr lang="en-GB" dirty="0"/>
              <a:t> shape mean-revert.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Hand-off: surface is structured → does respecting that structure help forecast it?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112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GB" i="1" dirty="0"/>
              <a:t>Filter:</a:t>
            </a:r>
            <a:r>
              <a:rPr lang="en-GB" dirty="0"/>
              <a:t> drop low-</a:t>
            </a:r>
            <a:r>
              <a:rPr lang="en-GB" dirty="0" err="1"/>
              <a:t>vega</a:t>
            </a:r>
            <a:r>
              <a:rPr lang="en-GB" dirty="0"/>
              <a:t> and zero-volume quotes.</a:t>
            </a:r>
            <a:br>
              <a:rPr lang="en-GB" dirty="0"/>
            </a:br>
            <a:r>
              <a:rPr lang="en-GB" dirty="0"/>
              <a:t> Vega (1 of </a:t>
            </a:r>
            <a:r>
              <a:rPr lang="en-GB" dirty="0" err="1"/>
              <a:t>greeks</a:t>
            </a:r>
            <a:r>
              <a:rPr lang="en-GB" dirty="0"/>
              <a:t>) = price's sensitivity to vol = how reliable its implied vol is; low </a:t>
            </a:r>
            <a:r>
              <a:rPr lang="en-GB" dirty="0" err="1"/>
              <a:t>vega</a:t>
            </a:r>
            <a:r>
              <a:rPr lang="en-GB" dirty="0"/>
              <a:t> → tiny price error becomes huge vol error. 			(Dc/</a:t>
            </a:r>
            <a:r>
              <a:rPr lang="en-GB" dirty="0" err="1"/>
              <a:t>dsigma</a:t>
            </a:r>
            <a:r>
              <a:rPr lang="en-GB" dirty="0"/>
              <a:t>)</a:t>
            </a:r>
            <a:br>
              <a:rPr lang="en-GB" dirty="0"/>
            </a:br>
            <a:br>
              <a:rPr lang="en-GB" dirty="0"/>
            </a:br>
            <a:r>
              <a:rPr lang="en-GB" dirty="0"/>
              <a:t>Zero volume → not traded. 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i="1" dirty="0"/>
              <a:t>OTM side:</a:t>
            </a:r>
            <a:r>
              <a:rPr lang="en-GB" dirty="0"/>
              <a:t> keep puts below the forward, calls above — pure time value, more liquid, tighter spreads. Put-call parity → the dropped ITM side has the same IV, so no loss. 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i="1" dirty="0"/>
              <a:t>Smoother:</a:t>
            </a:r>
            <a:r>
              <a:rPr lang="en-GB" dirty="0"/>
              <a:t> scattered quotes → regular grid. </a:t>
            </a:r>
            <a:r>
              <a:rPr lang="en-GB" dirty="0" err="1"/>
              <a:t>Nadaraya</a:t>
            </a:r>
            <a:r>
              <a:rPr lang="en-GB" dirty="0"/>
              <a:t>–Watson: </a:t>
            </a:r>
            <a:br>
              <a:rPr lang="en-GB" dirty="0"/>
            </a:br>
            <a:r>
              <a:rPr lang="en-GB" dirty="0"/>
              <a:t>at each grid point, a weighted average of nearby quotes — closer counts more (Gaussian kernel) </a:t>
            </a:r>
            <a:br>
              <a:rPr lang="en-GB" dirty="0"/>
            </a:br>
            <a:r>
              <a:rPr lang="en-GB" dirty="0"/>
              <a:t>weight by </a:t>
            </a:r>
            <a:r>
              <a:rPr lang="en-GB" dirty="0" err="1"/>
              <a:t>vega</a:t>
            </a:r>
            <a:r>
              <a:rPr lang="en-GB" dirty="0"/>
              <a:t> too, so trustworthy quotes count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77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path all 110 cells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70/10/20 split, stress in all sets (2008, covid)</a:t>
            </a:r>
          </a:p>
          <a:p>
            <a:endParaRPr lang="en-US" dirty="0"/>
          </a:p>
          <a:p>
            <a:r>
              <a:rPr lang="en-US" dirty="0"/>
              <a:t>2 weeks, month, 2 months, 1 quarter</a:t>
            </a:r>
          </a:p>
          <a:p>
            <a:endParaRPr lang="en-US" dirty="0"/>
          </a:p>
          <a:p>
            <a:r>
              <a:rPr lang="en-US" dirty="0"/>
              <a:t>Train-set per-cell standardization plus log-iv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628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Persistence = predict no change, </a:t>
            </a:r>
            <a:br>
              <a:rPr lang="en-US" dirty="0"/>
            </a:br>
            <a:r>
              <a:rPr lang="en-US" dirty="0"/>
              <a:t>optimal forecast under </a:t>
            </a:r>
            <a:r>
              <a:rPr lang="en-US" dirty="0" err="1"/>
              <a:t>assumpt</a:t>
            </a:r>
            <a:r>
              <a:rPr lang="en-US" dirty="0"/>
              <a:t>. that surface is a martingale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VAR – from a classical paper on the predictability of iv surfaces</a:t>
            </a:r>
            <a:br>
              <a:rPr lang="en-US" dirty="0"/>
            </a:br>
            <a:r>
              <a:rPr lang="en-US" dirty="0"/>
              <a:t>fits 5-coeff polynomial on every training day via </a:t>
            </a:r>
            <a:r>
              <a:rPr lang="en-US" dirty="0" err="1"/>
              <a:t>ols</a:t>
            </a:r>
            <a:br>
              <a:rPr lang="en-US" dirty="0"/>
            </a:br>
            <a:r>
              <a:rPr lang="en-US" dirty="0"/>
              <a:t>VAR (BIC selects lag=2) </a:t>
            </a:r>
            <a:br>
              <a:rPr lang="en-US" dirty="0"/>
            </a:br>
            <a:r>
              <a:rPr lang="en-US" dirty="0"/>
              <a:t>forecasts are rolled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450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Fixed lookback 63 days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models see deviations to today and forecast deviations from today. (delta = 0 is persistence)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AdamW</a:t>
            </a:r>
            <a:r>
              <a:rPr lang="en-US" dirty="0"/>
              <a:t> – mini-batch SGD, minimizing MSE.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Matched at 40-50k params</a:t>
            </a:r>
            <a:br>
              <a:rPr lang="en-US" dirty="0"/>
            </a:br>
            <a:r>
              <a:rPr lang="en-US" dirty="0"/>
              <a:t>no tuning per model/horizon </a:t>
            </a:r>
            <a:br>
              <a:rPr lang="en-US" dirty="0"/>
            </a:br>
            <a:r>
              <a:rPr lang="en-US" dirty="0"/>
              <a:t>10 random seeds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532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Nlinear</a:t>
            </a:r>
            <a:r>
              <a:rPr lang="en-US" dirty="0"/>
              <a:t> – from a famous paper where linear models outperform </a:t>
            </a:r>
            <a:r>
              <a:rPr lang="en-US" dirty="0" err="1"/>
              <a:t>sota</a:t>
            </a:r>
            <a:r>
              <a:rPr lang="en-US" dirty="0"/>
              <a:t> transformers – identical response to all regimes.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Day-token, surfaces in lookback flattened. (vanilla)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Per-cell, each cell is a token. Attends across a time series of tokens per cell. Each cell contributes, but weights shared.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Each token only has value and lag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5454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Moneyness and maturity positions learned embeddings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Models able to learn to tell apart tokens coming from different cells in the surface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4258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SANTA-T identical to Per-cell apart from learned coord embeddings.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SANTA-F applies spatial attention (as if it flattens the surfaces in lookback), able to mix information from any cell to any other cell.</a:t>
            </a:r>
          </a:p>
          <a:p>
            <a:endParaRPr lang="en-US" dirty="0"/>
          </a:p>
          <a:p>
            <a:r>
              <a:rPr lang="en-US" dirty="0"/>
              <a:t>SANTA constrains the spatial mixing of information to acting along the axes – moneyness then maturity then time.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7853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i="1" dirty="0"/>
              <a:t>MSE/MAE (point-wise):</a:t>
            </a:r>
            <a:r>
              <a:rPr lang="en-GB" dirty="0"/>
              <a:t> summed over 110 correlated cells → dominated by the </a:t>
            </a:r>
            <a:r>
              <a:rPr lang="en-GB" b="1" dirty="0"/>
              <a:t>level</a:t>
            </a:r>
            <a:r>
              <a:rPr lang="en-GB" dirty="0"/>
              <a:t>. </a:t>
            </a:r>
            <a:br>
              <a:rPr lang="en-GB" dirty="0"/>
            </a:br>
            <a:r>
              <a:rPr lang="en-GB" dirty="0"/>
              <a:t>A level error lands identically on all 110 cells, so it adds up and dominates the sum; </a:t>
            </a:r>
            <a:br>
              <a:rPr lang="en-GB" dirty="0"/>
            </a:br>
            <a:r>
              <a:rPr lang="en-GB" dirty="0"/>
              <a:t>a shape error is spread across cells as smaller, varying pieces, so it contributes far less. So MSE/MAE mostly score the level.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Cross sectional rank IC</a:t>
            </a:r>
            <a:br>
              <a:rPr lang="en-GB" dirty="0"/>
            </a:br>
            <a:r>
              <a:rPr lang="en-GB" dirty="0"/>
              <a:t>ranks forecasted and realised changes of each cell</a:t>
            </a:r>
            <a:br>
              <a:rPr lang="en-GB" dirty="0"/>
            </a:br>
            <a:r>
              <a:rPr lang="en-GB" dirty="0"/>
              <a:t>takes the spearman correlation of the ranks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is invariant to a level shift, evaluates whether a model is able to predict which cells rise/fall most relative to the rest.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Results in standardised log-iv in which models were trained.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7934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showing post-crisis </a:t>
            </a:r>
            <a:r>
              <a:rPr lang="en-US" dirty="0" err="1"/>
              <a:t>mse</a:t>
            </a:r>
            <a:r>
              <a:rPr lang="en-US" dirty="0"/>
              <a:t>. </a:t>
            </a:r>
            <a:r>
              <a:rPr lang="en-US" dirty="0" err="1"/>
              <a:t>mae</a:t>
            </a:r>
            <a:r>
              <a:rPr lang="en-US" dirty="0"/>
              <a:t> yields similar model rankings, and crisis period results are in the report.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Bottom panel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persistence hard to beat at h+10,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santa</a:t>
            </a:r>
            <a:r>
              <a:rPr lang="en-US" dirty="0"/>
              <a:t> records lowest </a:t>
            </a:r>
            <a:r>
              <a:rPr lang="en-US" dirty="0" err="1"/>
              <a:t>mse</a:t>
            </a:r>
            <a:r>
              <a:rPr lang="en-US" dirty="0"/>
              <a:t> at the 2 longest horizon configs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 err="1"/>
              <a:t>santa</a:t>
            </a:r>
            <a:r>
              <a:rPr lang="en-US" dirty="0"/>
              <a:t>-flat has cross-seed std orders of magnitude larger than </a:t>
            </a:r>
            <a:r>
              <a:rPr lang="en-US" dirty="0" err="1"/>
              <a:t>santa</a:t>
            </a:r>
            <a:r>
              <a:rPr lang="en-US" dirty="0"/>
              <a:t> at h+42 and h+63.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Top panel, comparing the error timeseries with the upcoming overlaid level, </a:t>
            </a:r>
            <a:br>
              <a:rPr lang="en-US" dirty="0"/>
            </a:br>
            <a:r>
              <a:rPr lang="en-US" dirty="0"/>
              <a:t>when the models have to predict a sharply falling level, var and day-token lead the group, and fall behind when level is rising or sustained high.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310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rule is parameter-free and has </a:t>
            </a:r>
            <a:r>
              <a:rPr lang="en-GB" i="1" dirty="0"/>
              <a:t>no horizon argument</a:t>
            </a:r>
            <a:r>
              <a:rPr lang="en-GB" dirty="0"/>
              <a:t> — one fixed prediction, scored at every horizon. </a:t>
            </a:r>
            <a:br>
              <a:rPr lang="en-GB" dirty="0"/>
            </a:br>
            <a:r>
              <a:rPr lang="en-GB" dirty="0"/>
              <a:t>So </a:t>
            </a:r>
            <a:r>
              <a:rPr lang="en-GB" i="1" dirty="0"/>
              <a:t>its</a:t>
            </a:r>
            <a:r>
              <a:rPr lang="en-GB" dirty="0"/>
              <a:t> IC rising with horizon, comes from the </a:t>
            </a:r>
            <a:r>
              <a:rPr lang="en-GB" b="1" dirty="0"/>
              <a:t>target.</a:t>
            </a:r>
            <a:br>
              <a:rPr lang="en-GB" b="1" dirty="0"/>
            </a:br>
            <a:br>
              <a:rPr lang="en-GB" b="1" dirty="0"/>
            </a:br>
            <a:r>
              <a:rPr lang="en-GB" b="0" dirty="0"/>
              <a:t>The reversion signal is directional, accumulating with horizon, whereas daily idiosyncratic shape-shocks are mixed sign and accumulate slower. </a:t>
            </a:r>
            <a:br>
              <a:rPr lang="en-GB" b="0" dirty="0"/>
            </a:br>
            <a:br>
              <a:rPr lang="en-GB" b="0" dirty="0"/>
            </a:br>
            <a:r>
              <a:rPr lang="en-GB" b="0" dirty="0"/>
              <a:t>The mean reversion rule is not a forecaster to test against, merely a tool to make sense of results. </a:t>
            </a:r>
            <a:br>
              <a:rPr lang="en-GB" b="0" dirty="0"/>
            </a:br>
            <a:br>
              <a:rPr lang="en-GB" b="0" dirty="0"/>
            </a:br>
            <a:r>
              <a:rPr lang="en-GB" b="0" dirty="0"/>
              <a:t>Mean reversion beats all models at h+10 (better picking up the signal than the trained models)</a:t>
            </a:r>
            <a:br>
              <a:rPr lang="en-GB" b="0" dirty="0"/>
            </a:br>
            <a:br>
              <a:rPr lang="en-GB" b="0" dirty="0"/>
            </a:br>
            <a:r>
              <a:rPr lang="en-GB" b="0" dirty="0"/>
              <a:t>SANTA leads from h+21 onwards. </a:t>
            </a:r>
            <a:br>
              <a:rPr lang="en-GB" b="0" dirty="0"/>
            </a:br>
            <a:br>
              <a:rPr lang="en-GB" b="0" dirty="0"/>
            </a:br>
            <a:r>
              <a:rPr lang="en-GB" b="0" dirty="0"/>
              <a:t>August 2020 to august 2021, the mean reversion rule falls – the surface assumed a shape different to the long-run shape and didn’t revert back. </a:t>
            </a:r>
            <a:br>
              <a:rPr lang="en-GB" b="0" dirty="0"/>
            </a:br>
            <a:r>
              <a:rPr lang="en-GB" b="0" dirty="0"/>
              <a:t>SANTA variant which usually lead fall with it. SANTA tracks the same reversion pattern, when it failed, SANTAs fell with it. </a:t>
            </a:r>
            <a:br>
              <a:rPr lang="en-GB" b="0" dirty="0"/>
            </a:br>
            <a:br>
              <a:rPr lang="en-GB" b="0" dirty="0"/>
            </a:br>
            <a:r>
              <a:rPr lang="en-GB" b="0" dirty="0"/>
              <a:t>Caveat: no model was trained to optimise this metric, it’s a by-product of wat each representation encodes. SA embeddings let SANTA variants represent where each cell sits, so it picks up the cross-cell shape pattern better.</a:t>
            </a:r>
            <a:br>
              <a:rPr lang="en-GB" b="0" dirty="0"/>
            </a:br>
            <a:br>
              <a:rPr lang="en-GB" b="0" dirty="0"/>
            </a:br>
            <a:r>
              <a:rPr lang="en-GB" b="0" dirty="0"/>
              <a:t>Day-token which flattens every day’s surface is the only model whose </a:t>
            </a:r>
            <a:r>
              <a:rPr lang="en-GB" b="0" dirty="0" err="1"/>
              <a:t>ic</a:t>
            </a:r>
            <a:r>
              <a:rPr lang="en-GB" b="0" dirty="0"/>
              <a:t> doesn’t 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2294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 to RQ, the entire ladder of models helps answer the question.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Answer is yes, SANTA leads in all 3 metrics at the 2 longest horizons, but respecting the structure has many definitions.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Anchoring on persistence lets every anchored model outperform persistence from the first day on average, whereas VAR only catches up to persistence by day 11.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Coord embeddings help the SANTA variants differentiate from the field in IC, with spatial attention adding little more.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Axial spatial attention of SANTA is the better matched prior due to the much poorer reproducibility of SANTA-Flat (it has to learn to mix information across the axes from scratch)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0781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1 underlying, 1 4-yr test period. No proof of whether the performance and model rankings hold for different </a:t>
            </a:r>
            <a:r>
              <a:rPr lang="en-US" dirty="0" err="1"/>
              <a:t>underlyings</a:t>
            </a:r>
            <a:r>
              <a:rPr lang="en-US" dirty="0"/>
              <a:t> (other equity indexes, single stocks or FX)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 tuning. Lower bound on absolute performance, but no guarantee that model rankings will remain under thorough hyperparameter search.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 economic evaluation – no proof of whether performance gains survive transaction costs.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Future work: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addressing the limitations.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 genuine next direction which was dictated by the scope was the lack of forecasts conditioned on exogenous parameters. This study serves as a lower bound in this sense too.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513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4">
            <a:extLst>
              <a:ext uri="{FF2B5EF4-FFF2-40B4-BE49-F238E27FC236}">
                <a16:creationId xmlns:a16="http://schemas.microsoft.com/office/drawing/2014/main" id="{0C35C447-372A-2538-9C02-9DA2222129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FF1AFD2-F993-B30A-2282-C04F1F65AF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2F13F474-91EA-0185-733B-62682BD9F6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87072C05-B626-BAF9-5316-96EAB02420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C6EA6C6-1057-DAC8-2609-B6EB51B723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E258757-AB3A-DE10-FDFE-35B9588E9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74360D36-2B50-3114-9CB9-4BEE96BCCE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1B032D16-0F2B-1DEC-D92A-ACAF24C07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3923343-4541-4792-ADC5-E6333E98D3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C53F61BD-18EB-B863-761D-89639D8806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>
                <a:solidFill>
                  <a:schemeClr val="accent1"/>
                </a:solidFill>
                <a:latin typeface="Imperial Sans Text Medium" panose="020B0603020202020204" pitchFamily="34" charset="0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3033340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4">
            <a:extLst>
              <a:ext uri="{FF2B5EF4-FFF2-40B4-BE49-F238E27FC236}">
                <a16:creationId xmlns:a16="http://schemas.microsoft.com/office/drawing/2014/main" id="{0C35C447-372A-2538-9C02-9DA2222129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FF1AFD2-F993-B30A-2282-C04F1F65AF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2F13F474-91EA-0185-733B-62682BD9F6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87072C05-B626-BAF9-5316-96EAB02420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C6EA6C6-1057-DAC8-2609-B6EB51B723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E258757-AB3A-DE10-FDFE-35B9588E9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74360D36-2B50-3114-9CB9-4BEE96BCCE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1B032D16-0F2B-1DEC-D92A-ACAF24C07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3923343-4541-4792-ADC5-E6333E98D3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C53F61BD-18EB-B863-761D-89639D8806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>
                <a:solidFill>
                  <a:schemeClr val="accent1"/>
                </a:solidFill>
                <a:latin typeface="Imperial Sans Text Medium" panose="020B0603020202020204" pitchFamily="34" charset="0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726487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4">
            <a:extLst>
              <a:ext uri="{FF2B5EF4-FFF2-40B4-BE49-F238E27FC236}">
                <a16:creationId xmlns:a16="http://schemas.microsoft.com/office/drawing/2014/main" id="{0C35C447-372A-2538-9C02-9DA2222129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FF1AFD2-F993-B30A-2282-C04F1F65AF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2F13F474-91EA-0185-733B-62682BD9F6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87072C05-B626-BAF9-5316-96EAB02420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C6EA6C6-1057-DAC8-2609-B6EB51B723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E258757-AB3A-DE10-FDFE-35B9588E9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74360D36-2B50-3114-9CB9-4BEE96BCCE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1B032D16-0F2B-1DEC-D92A-ACAF24C07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3923343-4541-4792-ADC5-E6333E98D3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C53F61BD-18EB-B863-761D-89639D8806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>
                <a:solidFill>
                  <a:schemeClr val="accent1"/>
                </a:solidFill>
                <a:latin typeface="Imperial Sans Text Medium" panose="020B0603020202020204" pitchFamily="34" charset="0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668972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>
                <a:solidFill>
                  <a:schemeClr val="bg1"/>
                </a:solidFill>
                <a:latin typeface="Imperial Sans Text Medium" panose="020B0603020202020204" pitchFamily="34" charset="0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bg1"/>
                </a:solidFill>
              </a:defRPr>
            </a:lvl2pPr>
            <a:lvl3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714C7637-5E21-BDDB-D675-718E58535D6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A57B56D4-851E-7242-EAB1-CD5B53E8B9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25FF1F4-36F0-A184-7B99-8F5F4A49C8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F198715B-A90B-9B06-A055-401A84B092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9D2E04D5-A2EE-135D-A8C9-6E695F9BCF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8CE0DC1F-799B-3F7A-3A71-D20337A474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E8EAEE22-055F-6869-D50D-D9C8C9082F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EADAC67C-850F-96D3-0962-09E1B4CC3E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683187A0-2E68-170D-55EF-0FA20E7A75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62882915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98F30683-44FB-4995-47C3-43A7DE5523C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7A24E86-91AA-6A9B-314A-752B77481A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879B37A-F4A9-2DDA-3FC3-9FC52384AE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3DABC58-132F-2F2F-EB5B-78B30A3D44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DFE51362-844C-B4F1-1A83-A287F312E9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E0F57AAB-C462-6A3A-9686-048341EA78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A0D371A-82CE-1829-AA32-FB790C7A60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A0DE082-4D8F-8158-56B4-AF85C4A0FA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530CFB56-59E9-38CF-519A-B532B32547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FB5434B5-DD4C-F988-6EBA-085A7DD494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1E34748E-CBEF-26E7-AB9F-696FA5D59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1DF2DBC8-2D33-BD84-A330-691C8B9797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>
                <a:solidFill>
                  <a:schemeClr val="bg1"/>
                </a:solidFill>
                <a:latin typeface="Imperial Sans Text Medium" panose="020B0603020202020204" pitchFamily="34" charset="0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bg1"/>
                </a:solidFill>
              </a:defRPr>
            </a:lvl2pPr>
            <a:lvl3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9999131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C290B-FE37-4CAC-A7C0-E9786931747E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8481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3B2C5-AC24-4FB9-9DF9-3E93E97F7E15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22023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DC3EE-520A-4B0C-9A93-8A3BCE343C2C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83203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238870"/>
            <a:ext cx="5163243" cy="3190130"/>
          </a:xfrm>
        </p:spPr>
        <p:txBody>
          <a:bodyPr/>
          <a:lstStyle>
            <a:lvl1pPr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580E58-B3EF-4403-ADDB-DF633B46989D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819"/>
            <a:ext cx="5777508" cy="3101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35426-417C-E41E-5A03-5974D3C79A0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75161828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C6AFE-4BFD-492A-99C3-CF71F029C358}" type="datetime1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7466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43724-B1DD-482A-99D3-F0B81FE25C13}" type="datetime1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8463841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92EF-2329-48B7-AF81-8D7B74AB2366}" type="datetime1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526107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FA6E5-885E-452D-BCEC-B566EBAB2E87}" type="datetime1">
              <a:rPr lang="en-GB" smtClean="0"/>
              <a:t>24/06/2026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035858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F2980-2D33-46A0-BDAC-9B4CFD93A7F6}" type="datetime1">
              <a:rPr lang="en-GB" smtClean="0"/>
              <a:t>24/06/2026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019597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9755E-9370-4157-BE5C-F6AD5AD5C8ED}" type="datetime1">
              <a:rPr lang="en-GB" smtClean="0"/>
              <a:t>24/06/2026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0747767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16F5B-736F-43A2-A41B-A23D363C1693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475608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6E877-399E-4733-BDA8-43F214BF43AD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66366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7DFA1-6761-408C-89CC-0A0A6084B03D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6248034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53301-EA48-4374-8D41-4C0498913A9B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706673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EEB25-8B2E-493B-A907-2E8EBD5388E8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0980370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B7F56-03EA-40D3-B3FA-9213BB762D03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423154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1EAC2-F9DB-4784-A188-6E4FCA03DA5B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34480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B3897-0BBA-4BE2-971F-F117EF62D66D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75397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08560-5BFE-4DA5-AE4D-FE0F4087E853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019243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025"/>
            <a:ext cx="9984000" cy="5934075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8B6FC3-16D7-46EA-83CF-113F58E1CA58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A8D6E0-472D-9B14-F3A6-BC2F23E87040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467749574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4246-23F0-4977-92E6-37A248422A4F}" type="datetime1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3696074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19F9D-3C9F-401D-A8C7-10EC13940849}" type="datetime1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9257883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B5B64-E04A-4DF5-A020-D3E046FA42EC}" type="datetime1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6803618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87B9F2-E558-46D1-B4D6-F83AA9543C67}" type="datetime1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1609BCD-EF9A-DF89-AAD2-167090C57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3995235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74872-1A4E-434B-92DF-72035B72B147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939635899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F415-A1CE-4F60-9BEA-A36E58AD412C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206395976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D3547-64B5-43BF-BB9A-735EDDABE8A9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773322227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500C-BCB2-40E8-9060-1CAA1C399768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65361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A259-D825-4CA9-9BE5-692823A2BE1D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69060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26D6A-358F-4DDB-BCDA-E2EB5AFDAD9F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26118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AC18A-16DA-46BB-8B59-89D596B68F0C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4966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93059-FF22-4183-894C-405A0472E9A7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84684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045A0-28B5-435C-9ED4-7B9DCB00758F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354154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ACB27-AFFE-45E0-A77B-C04441DBA506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339553058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071E6-5C30-40E7-BF84-163576CD2DE9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640183430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3D43-7C33-40B0-8364-EC2C773DC346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974509294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F07F8-C91F-4545-B3EA-C424337AC591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785877609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1A581-4730-4DD9-8775-8810BE511C5B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4240842164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5E9EB-D252-4723-8FA0-19B858F3EA4F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782778189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D7658-3C80-4D93-815C-DF15C9673E2C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306752833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880FB-1272-4489-BFB7-70F56335807D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115991555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17FCD-2A6E-44BA-B757-2651CC4A5556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2859685012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"/>
            <a:ext cx="12193489" cy="685799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33404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8C9DEC1-150C-501B-2DF1-6E2CB499B66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39A89AD-BEB6-79FD-8F05-4DF88E68F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733ED1C0-423D-3BA1-7D76-5AD063DB49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4321CB6-88B2-41D3-45AD-465FCCF9FF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8DF50ED-77B5-2CCB-445E-BE59A74640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E46F43E-7289-80AB-2776-B413EE27ED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C82D5C3-8445-8837-27CE-3B93EA4FA4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D962E7C-3E08-D166-19E4-74C4922787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F4041540-D57A-59CB-04E7-A52B58E1F1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148999050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8C9DEC1-150C-501B-2DF1-6E2CB499B66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39A89AD-BEB6-79FD-8F05-4DF88E68F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733ED1C0-423D-3BA1-7D76-5AD063DB49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4321CB6-88B2-41D3-45AD-465FCCF9FF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8DF50ED-77B5-2CCB-445E-BE59A74640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E46F43E-7289-80AB-2776-B413EE27ED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C82D5C3-8445-8837-27CE-3B93EA4FA4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D962E7C-3E08-D166-19E4-74C4922787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F4041540-D57A-59CB-04E7-A52B58E1F1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658548261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8C9DEC1-150C-501B-2DF1-6E2CB499B66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39A89AD-BEB6-79FD-8F05-4DF88E68F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733ED1C0-423D-3BA1-7D76-5AD063DB49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4321CB6-88B2-41D3-45AD-465FCCF9FF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8DF50ED-77B5-2CCB-445E-BE59A74640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E46F43E-7289-80AB-2776-B413EE27ED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C82D5C3-8445-8837-27CE-3B93EA4FA4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D962E7C-3E08-D166-19E4-74C4922787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F4041540-D57A-59CB-04E7-A52B58E1F1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211696665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8F1E4B3C-5470-00F2-B8CB-BB4906CF439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7D7A316D-6FA6-8EBE-A7B4-43071E70A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11C06CEA-028D-9197-2DEF-67878595AE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DEA93E8D-A827-0EF8-FC25-4EDF7B194E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DF359F29-A6DD-FD4C-F807-701DEA41EDF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2468BF6B-AEBB-4CAA-244D-9EBE80B9A1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CC60AC05-547F-FA65-604E-4ED4912EA9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7632E58E-1400-1E6E-BB60-7A9B794F41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4D65D159-581D-F29B-BBD4-C1C5BACCEE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4250105972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Imag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3A87AD45-2D2F-D96C-947C-BAE35BFEBEE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31EDC35F-4F2D-B2A7-1ECD-0CF19D1AD2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97F4776F-4E5E-13DF-F11A-A6808FFFC9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BA993AE1-6A24-5C17-7FE2-A16589D9C4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DA87F8EF-CDAD-15A2-A361-88921E1CAF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E90186DB-2300-A8AA-8FAD-2C609649A6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31922286-E237-1114-3A54-E1731611D6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1B4DA78C-0EF6-B05D-F2D2-EFEDA343E3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A00F92FE-6EB2-0D0E-BFC9-559AD1E7A4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216125896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90130"/>
            <a:ext cx="5606484" cy="740845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  <a:latin typeface="Imperial Sans Text Medium" panose="020B0603020202020204" pitchFamily="34" charset="0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9815FA8-AE01-67BC-5B0D-996D4CDAD19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B1AA775-4CCE-276F-2BCF-CDB5A9211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0FDD9D0-D471-8D20-94AE-C3BC73F88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D6C2A08-9069-9582-5D59-A51210F8C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0C2D08-4FE4-C1FC-5226-E7A45B13D6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10D1AF-A77E-06AA-9B05-D1DD5EE830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8B53AE0-4719-5655-6BA0-0E7E9ECB8E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AD6D1E9-D44F-9A59-4CB4-033C25A77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58ED361-0E2C-77F6-2830-FBB60D7464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761819100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90130"/>
            <a:ext cx="5606484" cy="740845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  <a:latin typeface="Imperial Sans Text Medium" panose="020B0603020202020204" pitchFamily="34" charset="0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9815FA8-AE01-67BC-5B0D-996D4CDAD19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B1AA775-4CCE-276F-2BCF-CDB5A9211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0FDD9D0-D471-8D20-94AE-C3BC73F88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D6C2A08-9069-9582-5D59-A51210F8C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0C2D08-4FE4-C1FC-5226-E7A45B13D6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10D1AF-A77E-06AA-9B05-D1DD5EE830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8B53AE0-4719-5655-6BA0-0E7E9ECB8E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AD6D1E9-D44F-9A59-4CB4-033C25A77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58ED361-0E2C-77F6-2830-FBB60D7464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2408184500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90130"/>
            <a:ext cx="5606484" cy="740845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  <a:latin typeface="Imperial Sans Text Medium" panose="020B0603020202020204" pitchFamily="34" charset="0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9815FA8-AE01-67BC-5B0D-996D4CDAD19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B1AA775-4CCE-276F-2BCF-CDB5A9211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0FDD9D0-D471-8D20-94AE-C3BC73F88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D6C2A08-9069-9582-5D59-A51210F8C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0C2D08-4FE4-C1FC-5226-E7A45B13D6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10D1AF-A77E-06AA-9B05-D1DD5EE830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8B53AE0-4719-5655-6BA0-0E7E9ECB8E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AD6D1E9-D44F-9A59-4CB4-033C25A77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58ED361-0E2C-77F6-2830-FBB60D7464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595170055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878288"/>
            <a:ext cx="5606484" cy="652688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  <a:latin typeface="Imperial Sans Text Medium" panose="020B0603020202020204" pitchFamily="34" charset="0"/>
                <a:ea typeface="Inter Medium" panose="0200050300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49CC1682-CCAA-5EE1-585E-F7C4434F1C5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770403FB-3386-A0FE-3E9D-A2925EF0E8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C2CDC1DE-179E-04D4-B493-BF069DE85D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B9A68412-C85B-6332-8B98-2635795BBA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9ECB875-34C4-65FF-6CDA-1356F6BC76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D3B5B848-7A8D-931B-DFC2-C5B37B8DB6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361AABDF-9542-DBC6-6388-ABE2035BE7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57C10C3-A39D-D1F6-3C50-91EC9A5E76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E4DD9B4A-92B0-0B9A-755B-A13B032A85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3000926829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FCEB1-B862-4F10-8847-5623B995FEF9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1818251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F8243-A9F1-4856-AB40-60224DB0FEF9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7015067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5219-1CCD-4C45-9353-665DC9C7404E}" type="datetime1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909866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E5FE3-607D-4BB0-AD37-836B40BC2CE7}" type="datetime1">
              <a:rPr lang="en-GB" smtClean="0"/>
              <a:t>24/06/2026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4464979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A4A61-E850-4C97-8298-0D0D5B71AF10}" type="datetime1">
              <a:rPr lang="en-GB" smtClean="0"/>
              <a:t>24/06/2026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7168227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73218-0F23-4C72-B0A1-38CDBFFD2A39}" type="datetime1">
              <a:rPr lang="en-GB" smtClean="0"/>
              <a:t>24/06/2026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811291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0F4440-CEDC-0D92-E0D5-5C1E3B59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A021F-8558-9528-DA3D-486CCDBEB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232" y="1394619"/>
            <a:ext cx="11541025" cy="48664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1A8F0-AC4B-E4A0-94D0-99C4BFD97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50">
                <a:solidFill>
                  <a:schemeClr val="accent1"/>
                </a:solidFill>
              </a:defRPr>
            </a:lvl1pPr>
          </a:lstStyle>
          <a:p>
            <a:fld id="{0588838C-4957-41D4-A862-5CF2B924874F}" type="datetime1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0FC7A-298A-77A0-6596-56B0B3FD8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850">
                <a:solidFill>
                  <a:schemeClr val="accent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17C40-7EB7-0CFD-6F6C-54AE57DE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>
              <a:defRPr sz="850" b="1">
                <a:solidFill>
                  <a:schemeClr val="accent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6CDD9-97E9-735B-8549-0F3AE3CCAC5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accent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14508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79" r:id="rId2"/>
    <p:sldLayoutId id="2147483680" r:id="rId3"/>
    <p:sldLayoutId id="2147483649" r:id="rId4"/>
    <p:sldLayoutId id="2147483657" r:id="rId5"/>
    <p:sldLayoutId id="2147483658" r:id="rId6"/>
    <p:sldLayoutId id="2147483681" r:id="rId7"/>
    <p:sldLayoutId id="2147483682" r:id="rId8"/>
    <p:sldLayoutId id="2147483675" r:id="rId9"/>
    <p:sldLayoutId id="2147483650" r:id="rId10"/>
    <p:sldLayoutId id="2147483683" r:id="rId11"/>
    <p:sldLayoutId id="2147483684" r:id="rId12"/>
    <p:sldLayoutId id="2147483652" r:id="rId13"/>
    <p:sldLayoutId id="2147483685" r:id="rId14"/>
    <p:sldLayoutId id="2147483686" r:id="rId15"/>
    <p:sldLayoutId id="2147483659" r:id="rId16"/>
    <p:sldLayoutId id="2147483687" r:id="rId17"/>
    <p:sldLayoutId id="2147483688" r:id="rId18"/>
    <p:sldLayoutId id="2147483660" r:id="rId19"/>
    <p:sldLayoutId id="2147483689" r:id="rId20"/>
    <p:sldLayoutId id="2147483690" r:id="rId21"/>
    <p:sldLayoutId id="2147483677" r:id="rId22"/>
    <p:sldLayoutId id="2147483691" r:id="rId23"/>
    <p:sldLayoutId id="2147483692" r:id="rId24"/>
    <p:sldLayoutId id="2147483676" r:id="rId25"/>
    <p:sldLayoutId id="2147483667" r:id="rId26"/>
    <p:sldLayoutId id="2147483693" r:id="rId27"/>
    <p:sldLayoutId id="2147483694" r:id="rId28"/>
    <p:sldLayoutId id="2147483666" r:id="rId29"/>
    <p:sldLayoutId id="2147483661" r:id="rId30"/>
    <p:sldLayoutId id="2147483695" r:id="rId31"/>
    <p:sldLayoutId id="2147483696" r:id="rId32"/>
    <p:sldLayoutId id="2147483669" r:id="rId33"/>
    <p:sldLayoutId id="2147483697" r:id="rId34"/>
    <p:sldLayoutId id="2147483698" r:id="rId35"/>
    <p:sldLayoutId id="2147483678" r:id="rId36"/>
    <p:sldLayoutId id="2147483699" r:id="rId37"/>
    <p:sldLayoutId id="2147483700" r:id="rId38"/>
    <p:sldLayoutId id="2147483662" r:id="rId39"/>
    <p:sldLayoutId id="2147483701" r:id="rId40"/>
    <p:sldLayoutId id="2147483702" r:id="rId41"/>
    <p:sldLayoutId id="2147483663" r:id="rId42"/>
    <p:sldLayoutId id="2147483703" r:id="rId43"/>
    <p:sldLayoutId id="2147483704" r:id="rId44"/>
    <p:sldLayoutId id="2147483664" r:id="rId45"/>
    <p:sldLayoutId id="2147483705" r:id="rId46"/>
    <p:sldLayoutId id="2147483706" r:id="rId47"/>
    <p:sldLayoutId id="2147483665" r:id="rId48"/>
    <p:sldLayoutId id="2147483671" r:id="rId49"/>
    <p:sldLayoutId id="2147483707" r:id="rId50"/>
    <p:sldLayoutId id="2147483708" r:id="rId51"/>
    <p:sldLayoutId id="2147483670" r:id="rId52"/>
    <p:sldLayoutId id="2147483672" r:id="rId53"/>
    <p:sldLayoutId id="2147483674" r:id="rId54"/>
    <p:sldLayoutId id="2147483709" r:id="rId55"/>
    <p:sldLayoutId id="2147483710" r:id="rId56"/>
    <p:sldLayoutId id="2147483673" r:id="rId57"/>
    <p:sldLayoutId id="2147483654" r:id="rId58"/>
    <p:sldLayoutId id="2147483711" r:id="rId59"/>
    <p:sldLayoutId id="2147483712" r:id="rId60"/>
    <p:sldLayoutId id="2147483655" r:id="rId61"/>
    <p:sldLayoutId id="2147483713" r:id="rId62"/>
    <p:sldLayoutId id="2147483714" r:id="rId63"/>
  </p:sldLayoutIdLst>
  <p:transition>
    <p:fade/>
  </p:transition>
  <p:hf hdr="0"/>
  <p:txStyles>
    <p:titleStyle>
      <a:lvl1pPr algn="l" defTabSz="685765" rtl="0" eaLnBrk="1" latinLnBrk="0" hangingPunct="1">
        <a:lnSpc>
          <a:spcPct val="90000"/>
        </a:lnSpc>
        <a:spcBef>
          <a:spcPct val="0"/>
        </a:spcBef>
        <a:buNone/>
        <a:defRPr sz="2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161991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323984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485975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3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6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18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1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7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206" userDrawn="1">
          <p15:clr>
            <a:srgbClr val="F26B43"/>
          </p15:clr>
        </p15:guide>
        <p15:guide id="4" pos="7475" userDrawn="1">
          <p15:clr>
            <a:srgbClr val="F26B43"/>
          </p15:clr>
        </p15:guide>
        <p15:guide id="5" orient="horz" pos="207" userDrawn="1">
          <p15:clr>
            <a:srgbClr val="F26B43"/>
          </p15:clr>
        </p15:guide>
        <p15:guide id="6" orient="horz" pos="4114" userDrawn="1">
          <p15:clr>
            <a:srgbClr val="F26B43"/>
          </p15:clr>
        </p15:guide>
        <p15:guide id="7" orient="horz" pos="3944" userDrawn="1">
          <p15:clr>
            <a:srgbClr val="F26B43"/>
          </p15:clr>
        </p15:guide>
        <p15:guide id="8" orient="horz" pos="879" userDrawn="1">
          <p15:clr>
            <a:srgbClr val="F26B43"/>
          </p15:clr>
        </p15:guide>
        <p15:guide id="9" pos="3723" userDrawn="1">
          <p15:clr>
            <a:srgbClr val="F26B43"/>
          </p15:clr>
        </p15:guide>
        <p15:guide id="10" pos="395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svg"/><Relationship Id="rId4" Type="http://schemas.openxmlformats.org/officeDocument/2006/relationships/image" Target="../media/image9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7CC57-32B4-5651-C726-27956387C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B7FCD95-DD6E-BAAA-DD32-3D1E187DA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0" y="2106652"/>
            <a:ext cx="11265527" cy="1322348"/>
          </a:xfrm>
        </p:spPr>
        <p:txBody>
          <a:bodyPr/>
          <a:lstStyle/>
          <a:p>
            <a:r>
              <a:rPr lang="en-GB" sz="4400" dirty="0">
                <a:latin typeface="+mj-lt"/>
              </a:rPr>
              <a:t>High-Dimensional Financial Data</a:t>
            </a:r>
          </a:p>
          <a:p>
            <a:r>
              <a:rPr lang="en-GB" sz="4400" dirty="0">
                <a:latin typeface="+mj-lt"/>
              </a:rPr>
              <a:t>Analysis with Tensor Attention-Based</a:t>
            </a:r>
          </a:p>
          <a:p>
            <a:r>
              <a:rPr lang="en-GB" sz="4400" dirty="0">
                <a:latin typeface="+mj-lt"/>
              </a:rPr>
              <a:t>Neural Networks </a:t>
            </a:r>
            <a:endParaRPr lang="en-GB" sz="44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7ADEF3F-453F-A867-067C-B77BAD4676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I. P. Zioulis</a:t>
            </a:r>
          </a:p>
          <a:p>
            <a:r>
              <a:rPr lang="en-US" dirty="0"/>
              <a:t>22/06/2026</a:t>
            </a:r>
          </a:p>
        </p:txBody>
      </p:sp>
    </p:spTree>
    <p:extLst>
      <p:ext uri="{BB962C8B-B14F-4D97-AF65-F5344CB8AC3E}">
        <p14:creationId xmlns:p14="http://schemas.microsoft.com/office/powerpoint/2010/main" val="303511597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F2589-7143-2751-D8BC-E814429E3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Forecasting the Implied Volatility Surface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8B994-09E8-A3FE-EF57-63A5E9E015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3517" y="1109572"/>
            <a:ext cx="5583238" cy="338533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Options are </a:t>
            </a:r>
            <a:r>
              <a:rPr lang="en-US" sz="1600" b="1" dirty="0"/>
              <a:t>insurance against market moves </a:t>
            </a:r>
            <a:r>
              <a:rPr lang="en-GB" sz="1600" dirty="0"/>
              <a:t>—</a:t>
            </a:r>
            <a:r>
              <a:rPr lang="en-US" sz="1600" dirty="0"/>
              <a:t> their price reveal the market’s expected risk.</a:t>
            </a:r>
          </a:p>
          <a:p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Collected across strikes (moneyness levels) and maturities, option quotes form the </a:t>
            </a:r>
            <a:r>
              <a:rPr lang="en-US" sz="1600" b="1" dirty="0"/>
              <a:t>implied volatility surface</a:t>
            </a:r>
            <a:r>
              <a:rPr lang="en-US" sz="16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IV surfaces are primarily used for pricing, hedging and risk management; the latter two depend on how the surface moves, rather than where it sits today.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Multi-step forecasting of the full IV surface is unaddressed by the literature reviewed.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4B07C-EEAB-4798-8B1C-83DDED8B0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22/06/2026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385F2-0B4E-B374-5039-858CD7832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Introduction – the Implied Volatility Surface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8328E-D908-8F9B-60E2-00A2AC4B5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2</a:t>
            </a:fld>
            <a:endParaRPr lang="en-GB"/>
          </a:p>
        </p:txBody>
      </p:sp>
      <p:pic>
        <p:nvPicPr>
          <p:cNvPr id="11" name="Content Placeholder 9">
            <a:extLst>
              <a:ext uri="{FF2B5EF4-FFF2-40B4-BE49-F238E27FC236}">
                <a16:creationId xmlns:a16="http://schemas.microsoft.com/office/drawing/2014/main" id="{71ED9D4A-F2F7-A273-5706-8B37365050B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5246" y="929235"/>
            <a:ext cx="5583238" cy="3889116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4C818A1-3710-A25D-0008-8D6AE6F46B3B}"/>
              </a:ext>
            </a:extLst>
          </p:cNvPr>
          <p:cNvSpPr txBox="1">
            <a:spLocks/>
          </p:cNvSpPr>
          <p:nvPr/>
        </p:nvSpPr>
        <p:spPr>
          <a:xfrm>
            <a:off x="325487" y="4974439"/>
            <a:ext cx="11541025" cy="93973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5400" cap="flat" cmpd="sng" algn="ctr">
            <a:solidFill>
              <a:schemeClr val="accent1"/>
            </a:solidFill>
            <a:prstDash val="solid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72000" tIns="72000" rIns="72000" bIns="0" rtlCol="0">
            <a:noAutofit/>
          </a:bodyPr>
          <a:lstStyle>
            <a:lvl1pPr marL="0" indent="0" algn="l" defTabSz="685765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765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61991" indent="-161991" algn="l" defTabSz="685765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323984" indent="-161991" algn="l" defTabSz="685765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485975" indent="-161991" algn="l" defTabSz="685765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853" indent="-171441" algn="l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736" indent="-171441" algn="l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618" indent="-171441" algn="l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501" indent="-171441" algn="l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j-lt"/>
              </a:rPr>
              <a:t>Research Question:</a:t>
            </a:r>
          </a:p>
          <a:p>
            <a:endParaRPr lang="en-US" sz="1000" dirty="0"/>
          </a:p>
          <a:p>
            <a:r>
              <a:rPr lang="en-GB" sz="1600" dirty="0"/>
              <a:t>Is a model that respects the surface's structure better able to forecast the IV surface, multiple steps ahead, from its own history?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244401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F4E7F-15C1-503A-943F-27AB5FA6F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 Surface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477D5-26E0-77BF-39FD-99335BA9D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003852"/>
            <a:ext cx="5769768" cy="5028131"/>
          </a:xfrm>
        </p:spPr>
        <p:txBody>
          <a:bodyPr/>
          <a:lstStyle/>
          <a:p>
            <a:r>
              <a:rPr lang="en-US" dirty="0">
                <a:latin typeface="+mj-lt"/>
              </a:rPr>
              <a:t>Static structure:</a:t>
            </a:r>
          </a:p>
          <a:p>
            <a:endParaRPr lang="en-US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/>
              <a:t>Equity indices fall faster and harder than they rise → low-strike options (downside protection) are pricier → the </a:t>
            </a:r>
            <a:r>
              <a:rPr lang="en-GB" sz="1600" b="1" dirty="0"/>
              <a:t>skew.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1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/>
              <a:t>Longer-dated options usually imply higher vol → the </a:t>
            </a:r>
            <a:r>
              <a:rPr lang="en-GB" sz="1600" b="1" dirty="0"/>
              <a:t>term structure</a:t>
            </a:r>
            <a:r>
              <a:rPr lang="en-GB" sz="1600" dirty="0"/>
              <a:t> typically slopes up (and can invert under stress).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>
                <a:latin typeface="+mj-lt"/>
              </a:rPr>
              <a:t>Dynamic structure:</a:t>
            </a:r>
          </a:p>
          <a:p>
            <a:endParaRPr lang="en-US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/>
              <a:t>Short-term: </a:t>
            </a:r>
            <a:r>
              <a:rPr lang="en-GB" sz="1600" b="1" dirty="0"/>
              <a:t>highly persistent</a:t>
            </a:r>
            <a:r>
              <a:rPr lang="en-GB" sz="1600" dirty="0"/>
              <a:t> — tomorrow ≈ today.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/>
              <a:t>Most daily evolution is a shared </a:t>
            </a:r>
            <a:r>
              <a:rPr lang="en-GB" sz="1600" b="1" dirty="0"/>
              <a:t>level shift</a:t>
            </a:r>
            <a:r>
              <a:rPr lang="en-GB" sz="1600" dirty="0"/>
              <a:t> (&gt;90% of the variance).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/>
              <a:t>Longer-term: both level and shape </a:t>
            </a:r>
            <a:r>
              <a:rPr lang="en-GB" sz="1600" b="1" dirty="0"/>
              <a:t>mean-revert.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926C0-CECD-59D7-7E58-73BDAB510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22/06/2026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0F4FB-6058-5283-E9D4-D30BDB7DD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Introduction – Implied Volatility Surface Structure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91377-56A7-E985-4AB9-CAD2246F0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3</a:t>
            </a:fld>
            <a:endParaRPr lang="en-GB"/>
          </a:p>
        </p:txBody>
      </p:sp>
      <p:pic>
        <p:nvPicPr>
          <p:cNvPr id="11" name="Content Placeholder 9">
            <a:extLst>
              <a:ext uri="{FF2B5EF4-FFF2-40B4-BE49-F238E27FC236}">
                <a16:creationId xmlns:a16="http://schemas.microsoft.com/office/drawing/2014/main" id="{1CDC21CF-BD5A-99A4-110A-00B3CE2371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859" y="1657327"/>
            <a:ext cx="5612909" cy="354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45995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BCC2-454A-8CB6-E354-E53DB26BE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E41A8-2B13-F385-978D-1867E9F826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3352800"/>
            <a:ext cx="10825297" cy="2361557"/>
          </a:xfrm>
        </p:spPr>
        <p:txBody>
          <a:bodyPr/>
          <a:lstStyle/>
          <a:p>
            <a:r>
              <a:rPr lang="en-GB" dirty="0">
                <a:latin typeface="+mj-lt"/>
              </a:rPr>
              <a:t>Smoothing: </a:t>
            </a:r>
          </a:p>
          <a:p>
            <a:endParaRPr lang="en-GB" sz="10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/>
              <a:t>Vega-weighted </a:t>
            </a:r>
            <a:r>
              <a:rPr lang="en-GB" sz="1600" dirty="0" err="1"/>
              <a:t>Nadaraya</a:t>
            </a:r>
            <a:r>
              <a:rPr lang="en-GB" sz="1600" dirty="0"/>
              <a:t>-Watson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1600" dirty="0">
              <a:latin typeface="+mj-lt"/>
            </a:endParaRPr>
          </a:p>
          <a:p>
            <a:endParaRPr lang="en-GB" sz="1600" dirty="0">
              <a:latin typeface="+mj-lt"/>
            </a:endParaRPr>
          </a:p>
          <a:p>
            <a:endParaRPr lang="en-GB" dirty="0">
              <a:latin typeface="+mj-lt"/>
            </a:endParaRPr>
          </a:p>
          <a:p>
            <a:r>
              <a:rPr lang="en-GB" dirty="0">
                <a:latin typeface="+mj-lt"/>
              </a:rPr>
              <a:t>Resulting surface: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85898-2040-1781-2CCA-90E6EA8AB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22/06/2026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128524-3B7C-AA83-D35E-A25E90778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Implementation – Building the Dataset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41C0D-8F8A-973C-5D56-2C2EA3EC4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4</a:t>
            </a:fld>
            <a:endParaRPr lang="en-GB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38C5D2B3-7C28-AB05-6B80-5859987312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73455" y="4195647"/>
            <a:ext cx="7445089" cy="61614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8E97B33-ECF8-949B-A96F-DF8A72133226}"/>
              </a:ext>
            </a:extLst>
          </p:cNvPr>
          <p:cNvSpPr txBox="1"/>
          <p:nvPr/>
        </p:nvSpPr>
        <p:spPr>
          <a:xfrm>
            <a:off x="1341783" y="5257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F45F2F18-084D-B6FE-318D-4D5E221D37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63939" y="5404429"/>
            <a:ext cx="8664117" cy="2244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420E27-8CFD-4513-F5FB-F1F16D66413F}"/>
              </a:ext>
            </a:extLst>
          </p:cNvPr>
          <p:cNvSpPr txBox="1"/>
          <p:nvPr/>
        </p:nvSpPr>
        <p:spPr>
          <a:xfrm>
            <a:off x="1040471" y="1236143"/>
            <a:ext cx="10111057" cy="1758069"/>
          </a:xfrm>
          <a:prstGeom prst="rect">
            <a:avLst/>
          </a:prstGeom>
          <a:solidFill>
            <a:schemeClr val="bg2"/>
          </a:solidFill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2000" tIns="72000" rIns="72000" bIns="72000" numCol="3" spcCol="180000" rtlCol="0">
            <a:noAutofit/>
          </a:bodyPr>
          <a:lstStyle/>
          <a:p>
            <a:pPr algn="ctr"/>
            <a:r>
              <a:rPr lang="en-GB" b="1" dirty="0"/>
              <a:t>Data</a:t>
            </a:r>
          </a:p>
          <a:p>
            <a:pPr algn="ctr"/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/>
              <a:t>SPX index options (via </a:t>
            </a:r>
            <a:r>
              <a:rPr lang="en-GB" sz="1600" dirty="0" err="1"/>
              <a:t>OptionMetrics</a:t>
            </a:r>
            <a:r>
              <a:rPr lang="en-GB" sz="1600" dirty="0"/>
              <a:t>), </a:t>
            </a:r>
          </a:p>
          <a:p>
            <a:r>
              <a:rPr lang="en-GB" sz="1600" dirty="0"/>
              <a:t>       ~ 20 years (2004–2023), </a:t>
            </a:r>
          </a:p>
          <a:p>
            <a:r>
              <a:rPr lang="en-GB" sz="1600" dirty="0"/>
              <a:t>       ~ 37M quotes</a:t>
            </a:r>
          </a:p>
          <a:p>
            <a:endParaRPr lang="en-GB" sz="1600" dirty="0"/>
          </a:p>
          <a:p>
            <a:pPr algn="ctr"/>
            <a:r>
              <a:rPr lang="en-GB" b="1" dirty="0"/>
              <a:t>Filtering</a:t>
            </a:r>
          </a:p>
          <a:p>
            <a:pPr algn="ctr"/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/>
              <a:t>drop unreliable and illiquid quotes (low </a:t>
            </a:r>
            <a:r>
              <a:rPr lang="en-GB" sz="1600" dirty="0" err="1"/>
              <a:t>vega</a:t>
            </a:r>
            <a:r>
              <a:rPr lang="en-GB" sz="1600" dirty="0"/>
              <a:t>, zero volume)</a:t>
            </a:r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pPr algn="ctr"/>
            <a:r>
              <a:rPr lang="en-GB" b="1" dirty="0"/>
              <a:t>Keeping the OTM side</a:t>
            </a:r>
          </a:p>
          <a:p>
            <a:pPr algn="ctr"/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/>
              <a:t>puts below the forward, calls above — only time value, measured more precisely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ED9DE9-A090-07E8-7107-E2FA050D9E4D}"/>
              </a:ext>
            </a:extLst>
          </p:cNvPr>
          <p:cNvSpPr txBox="1"/>
          <p:nvPr/>
        </p:nvSpPr>
        <p:spPr>
          <a:xfrm>
            <a:off x="326232" y="744071"/>
            <a:ext cx="9547412" cy="3780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sz="1600" dirty="0"/>
              <a:t>The market gives a daily scatter of option quotes </a:t>
            </a:r>
            <a:r>
              <a:rPr lang="en-GB" sz="1600" dirty="0"/>
              <a:t>— irregular strikes &amp; maturities, changing day to day.</a:t>
            </a:r>
          </a:p>
          <a:p>
            <a:pPr algn="l">
              <a:lnSpc>
                <a:spcPct val="105000"/>
              </a:lnSpc>
            </a:pP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22137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E3F49-EA41-D497-1DDC-E0BA87767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Representative constructed surfaces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51A20-F9F6-55AA-9601-C8DC5661A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22/06/2026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DCCBC-0A12-B883-56F1-B0354D6D1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75421" y="6393702"/>
            <a:ext cx="3423452" cy="137272"/>
          </a:xfrm>
        </p:spPr>
        <p:txBody>
          <a:bodyPr/>
          <a:lstStyle/>
          <a:p>
            <a:r>
              <a:rPr lang="en-GB" dirty="0"/>
              <a:t>Implementation – Example Constructed Surfaces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10218-BF13-2DE0-B73C-2D8F12C3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5</a:t>
            </a:fld>
            <a:endParaRPr lang="en-GB"/>
          </a:p>
        </p:txBody>
      </p:sp>
      <p:pic>
        <p:nvPicPr>
          <p:cNvPr id="8" name="Content Placeholder 9">
            <a:extLst>
              <a:ext uri="{FF2B5EF4-FFF2-40B4-BE49-F238E27FC236}">
                <a16:creationId xmlns:a16="http://schemas.microsoft.com/office/drawing/2014/main" id="{A90B15CB-CFFD-F1AA-B16B-DDA33C9A40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3861" y="955817"/>
            <a:ext cx="10325788" cy="511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85492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14F22CD-BA6E-818C-EF5E-21CB90148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Forecasting Task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E29E005-522D-7E1E-DFA7-05254BC260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785942"/>
            <a:ext cx="5769768" cy="3112496"/>
          </a:xfrm>
        </p:spPr>
        <p:txBody>
          <a:bodyPr/>
          <a:lstStyle/>
          <a:p>
            <a:r>
              <a:rPr lang="en-US" dirty="0">
                <a:latin typeface="+mj-lt"/>
              </a:rPr>
              <a:t>Task:</a:t>
            </a:r>
            <a:endParaRPr lang="en-US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Forecasting the full surface (all 110 cells)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 multi-step path, all steps from base date to horizon.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r>
              <a:rPr lang="en-US" dirty="0">
                <a:latin typeface="+mj-lt"/>
              </a:rPr>
              <a:t>Data split: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Chronological 70/10/20 split, with stress episodes present in each set </a:t>
            </a:r>
          </a:p>
          <a:p>
            <a:pPr>
              <a:lnSpc>
                <a:spcPct val="100000"/>
              </a:lnSpc>
            </a:pPr>
            <a:endParaRPr lang="en-US" sz="600" dirty="0"/>
          </a:p>
          <a:p>
            <a:pPr>
              <a:lnSpc>
                <a:spcPct val="100000"/>
              </a:lnSpc>
            </a:pPr>
            <a:endParaRPr lang="en-US" sz="700" dirty="0"/>
          </a:p>
          <a:p>
            <a:pPr>
              <a:lnSpc>
                <a:spcPct val="100000"/>
              </a:lnSpc>
            </a:pPr>
            <a:endParaRPr lang="en-US" sz="700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2AD7CB01-36F6-3E31-4B8A-8F47F73B2D5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742459" y="3888590"/>
            <a:ext cx="8707081" cy="218346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E1415-7DD6-FB9B-0B81-0604B912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22/06/2026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7AE11-BED5-FE9B-E3FE-C21E57886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Implementation – the Forecasting Task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AF1CC-11D8-C251-D9DD-6E5EA12E2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6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31F1F81-F80B-C6D4-3803-D77C6B578D2E}"/>
                  </a:ext>
                </a:extLst>
              </p:cNvPr>
              <p:cNvSpPr txBox="1"/>
              <p:nvPr/>
            </p:nvSpPr>
            <p:spPr>
              <a:xfrm>
                <a:off x="6370983" y="785941"/>
                <a:ext cx="5496274" cy="31124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>
                  <a:lnSpc>
                    <a:spcPct val="105000"/>
                  </a:lnSpc>
                </a:pP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Horizons:</a:t>
                </a:r>
              </a:p>
              <a:p>
                <a:pPr marL="342900" indent="-342900" algn="l">
                  <a:lnSpc>
                    <a:spcPct val="105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10, 21, 42, 63</m:t>
                        </m:r>
                      </m:e>
                    </m:d>
                  </m:oMath>
                </a14:m>
                <a:r>
                  <a:rPr lang="en-US" sz="1600" dirty="0"/>
                  <a:t>  trading days (approx. 2 weeks, 1 month, 2 months and 1 quarter) </a:t>
                </a:r>
              </a:p>
              <a:p>
                <a:pPr algn="l">
                  <a:lnSpc>
                    <a:spcPct val="105000"/>
                  </a:lnSpc>
                </a:pPr>
                <a:endParaRPr lang="en-US" sz="1600" dirty="0"/>
              </a:p>
              <a:p>
                <a:pPr algn="l">
                  <a:lnSpc>
                    <a:spcPct val="105000"/>
                  </a:lnSpc>
                </a:pPr>
                <a:endParaRPr lang="en-US" sz="1600" dirty="0"/>
              </a:p>
              <a:p>
                <a:pPr>
                  <a:lnSpc>
                    <a:spcPct val="100000"/>
                  </a:lnSpc>
                </a:pPr>
                <a:r>
                  <a:rPr lang="en-US" sz="2000" dirty="0" err="1">
                    <a:latin typeface="+mj-lt"/>
                  </a:rPr>
                  <a:t>Standardisation</a:t>
                </a:r>
                <a:r>
                  <a:rPr lang="en-US" sz="2000" dirty="0">
                    <a:latin typeface="+mj-lt"/>
                  </a:rPr>
                  <a:t>:</a:t>
                </a:r>
              </a:p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Forecasts in </a:t>
                </a:r>
                <a:r>
                  <a:rPr lang="en-US" sz="1600" dirty="0" err="1"/>
                  <a:t>standardised</a:t>
                </a:r>
                <a:r>
                  <a:rPr lang="en-US" sz="1600" dirty="0"/>
                  <a:t> log-IV (the literature largely works in log-IV &amp; forecasts are non-negative by default)</a:t>
                </a:r>
              </a:p>
              <a:p>
                <a:pPr algn="l">
                  <a:lnSpc>
                    <a:spcPct val="105000"/>
                  </a:lnSpc>
                </a:pPr>
                <a:r>
                  <a:rPr lang="en-US" sz="2000" dirty="0"/>
                  <a:t>          </a:t>
                </a:r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31F1F81-F80B-C6D4-3803-D77C6B578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0983" y="785941"/>
                <a:ext cx="5496274" cy="3112497"/>
              </a:xfrm>
              <a:prstGeom prst="rect">
                <a:avLst/>
              </a:prstGeom>
              <a:blipFill>
                <a:blip r:embed="rId4"/>
                <a:stretch>
                  <a:fillRect l="-2765" t="-2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243136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7AD3F-E6C1-7C97-C13E-6236ED31A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Benchmarks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4A9B0-3594-7903-DB82-45F2C0B6D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5437" y="1067771"/>
            <a:ext cx="5583238" cy="4052047"/>
          </a:xfrm>
          <a:solidFill>
            <a:schemeClr val="bg2"/>
          </a:solidFill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72000" tIns="72000" rIns="72000" bIns="72000"/>
          <a:lstStyle/>
          <a:p>
            <a:pPr algn="ctr"/>
            <a:r>
              <a:rPr lang="en-US" dirty="0">
                <a:latin typeface="+mj-lt"/>
              </a:rPr>
              <a:t>Persistence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All horizon forecasts are the last seen surface: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Persistence is the optimal forecast under the assumption that the surface is a martingale.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IV surfaces are </a:t>
            </a:r>
            <a:r>
              <a:rPr lang="en-US" sz="1600" dirty="0" err="1"/>
              <a:t>characterised</a:t>
            </a:r>
            <a:r>
              <a:rPr lang="en-US" sz="1600" dirty="0"/>
              <a:t> as persistent and near-martingale in short horizons.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D9548-72C1-4D27-E593-0259CE527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4" y="1067770"/>
            <a:ext cx="5583238" cy="4052047"/>
          </a:xfrm>
          <a:solidFill>
            <a:schemeClr val="bg2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72000" tIns="72000" rIns="72000" bIns="72000"/>
          <a:lstStyle/>
          <a:p>
            <a:pPr algn="ctr"/>
            <a:r>
              <a:rPr lang="en-US" dirty="0">
                <a:latin typeface="+mj-lt"/>
              </a:rPr>
              <a:t>Polynomial-Coefficient VAR</a:t>
            </a:r>
          </a:p>
          <a:p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OLS fits the 5-dimensional polynomial on every day in the training set: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A vector autoregression is fitted on the training set – lag 2 (BIC).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In the test set, path forecasts are rolled out step-by-step.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E3886-6F22-DCB8-5B5A-4B50B4D9C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22/06/2026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9C2323-3D4C-2C2C-5F38-CA5205F1B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Implementation – Classical Benchmarks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C8CEA-365C-FDF0-4651-13D0A0006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7</a:t>
            </a:fld>
            <a:endParaRPr lang="en-GB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0EF4350-4454-C4E0-5664-CDF1C39D39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74" y="2332770"/>
            <a:ext cx="4798963" cy="2181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330C69C-0B0F-6695-5AA0-B438C31FC20C}"/>
              </a:ext>
            </a:extLst>
          </p:cNvPr>
          <p:cNvSpPr txBox="1"/>
          <p:nvPr/>
        </p:nvSpPr>
        <p:spPr>
          <a:xfrm>
            <a:off x="10197548" y="16101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46155AE5-E0D8-5E3A-A06F-361EABF5EC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02998" y="2423383"/>
            <a:ext cx="4543889" cy="670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6637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5D6BD-2478-6A9D-727E-4B4D60644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Implementation: the Shared Pipeline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6546C7-CC76-A210-74CC-7798C4F2A7F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26231" y="795129"/>
                <a:ext cx="11540331" cy="3053343"/>
              </a:xfrm>
            </p:spPr>
            <p:txBody>
              <a:bodyPr numCol="3" spcCol="144000"/>
              <a:lstStyle/>
              <a:p>
                <a:pPr algn="ctr"/>
                <a:r>
                  <a:rPr lang="en-US" dirty="0">
                    <a:latin typeface="+mj-lt"/>
                  </a:rPr>
                  <a:t>Lookback &amp; Centering</a:t>
                </a:r>
              </a:p>
              <a:p>
                <a:pPr algn="ctr"/>
                <a:endParaRPr lang="en-US" sz="800" dirty="0">
                  <a:latin typeface="+mj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Each model’s lookback is 63 days.</a:t>
                </a:r>
              </a:p>
              <a:p>
                <a:endParaRPr lang="en-US" sz="16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Each model sees deviations to today and predicts deviations from today.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16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/>
                  <a:t> is persistence; hence the models are ‘persistence-anchored’.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algn="ctr"/>
                <a:r>
                  <a:rPr lang="en-US" dirty="0">
                    <a:latin typeface="+mj-lt"/>
                  </a:rPr>
                  <a:t>Training</a:t>
                </a:r>
              </a:p>
              <a:p>
                <a:pPr algn="ctr"/>
                <a:endParaRPr lang="en-US" sz="800" dirty="0">
                  <a:latin typeface="+mj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Each model is trained using the </a:t>
                </a:r>
                <a:r>
                  <a:rPr lang="en-US" sz="1600" dirty="0" err="1"/>
                  <a:t>AdamW</a:t>
                </a:r>
                <a:r>
                  <a:rPr lang="en-US" sz="1600" dirty="0"/>
                  <a:t> </a:t>
                </a:r>
                <a:r>
                  <a:rPr lang="en-US" sz="1600" dirty="0" err="1"/>
                  <a:t>optimiser</a:t>
                </a:r>
                <a:r>
                  <a:rPr lang="en-US" sz="1600" dirty="0"/>
                  <a:t> via mini-batch SGD.</a:t>
                </a:r>
              </a:p>
              <a:p>
                <a:endParaRPr lang="en-US" sz="16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The training loss is MSE in </a:t>
                </a:r>
                <a:r>
                  <a:rPr lang="en-US" sz="1600" dirty="0" err="1"/>
                  <a:t>standardised</a:t>
                </a:r>
                <a:r>
                  <a:rPr lang="en-US" sz="1600" dirty="0"/>
                  <a:t> log-IV: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16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algn="ctr"/>
                <a:r>
                  <a:rPr lang="en-US" dirty="0">
                    <a:latin typeface="+mj-lt"/>
                  </a:rPr>
                  <a:t>Parameter Count and Hyperparameters</a:t>
                </a:r>
              </a:p>
              <a:p>
                <a:pPr algn="ctr"/>
                <a:endParaRPr lang="en-US" sz="800" dirty="0">
                  <a:latin typeface="+mj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All deep models are matched at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40−50</m:t>
                    </m:r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sz="1600" dirty="0"/>
                  <a:t> parameters.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16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Hyperparameters are shared.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16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Each model/horizon configuration is trained across 10 random seeds.</a:t>
                </a:r>
              </a:p>
              <a:p>
                <a:r>
                  <a:rPr lang="en-US" dirty="0"/>
                  <a:t>      </a:t>
                </a:r>
              </a:p>
              <a:p>
                <a:endParaRPr lang="en-US" sz="800" dirty="0"/>
              </a:p>
              <a:p>
                <a:endParaRPr lang="en-US" sz="9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6546C7-CC76-A210-74CC-7798C4F2A7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26231" y="795129"/>
                <a:ext cx="11540331" cy="3053343"/>
              </a:xfrm>
              <a:blipFill>
                <a:blip r:embed="rId3"/>
                <a:stretch>
                  <a:fillRect l="-989" t="-2075" r="-1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1235BD4-39F2-BE99-6F67-4AEF3FECB4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1649546" y="3657594"/>
            <a:ext cx="8892905" cy="240527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481EC9-2C32-C1F6-EAFC-8352CA0C8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22/06/2026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2A779-4B7F-A518-18F6-BDF2DAACD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Implementation – Model Shared Forecasting Pipeline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CE4B3-9BA5-9B62-0D64-B2ABAA6CC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8</a:t>
            </a:fld>
            <a:endParaRPr lang="en-GB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73A171B5-94F9-6ACA-6197-60CF5BE591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75052" y="2579978"/>
            <a:ext cx="3441896" cy="62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6338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A7262-7465-A5C9-194E-59B74B068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Floor and Plain Transformers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45EFC-3BA9-732E-C714-0C0BEC2CE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8836" y="795789"/>
            <a:ext cx="9454328" cy="997438"/>
          </a:xfrm>
          <a:solidFill>
            <a:schemeClr val="bg2"/>
          </a:solidFill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tIns="72000" rIns="72000" bIns="72000"/>
          <a:lstStyle/>
          <a:p>
            <a:r>
              <a:rPr lang="en-US" dirty="0" err="1">
                <a:solidFill>
                  <a:schemeClr val="accent2"/>
                </a:solidFill>
                <a:latin typeface="+mj-lt"/>
              </a:rPr>
              <a:t>NLinear</a:t>
            </a:r>
            <a:r>
              <a:rPr lang="en-US" dirty="0">
                <a:solidFill>
                  <a:schemeClr val="accent2"/>
                </a:solidFill>
                <a:latin typeface="+mj-lt"/>
              </a:rPr>
              <a:t>:</a:t>
            </a:r>
          </a:p>
          <a:p>
            <a:r>
              <a:rPr lang="en-US" sz="1600" dirty="0">
                <a:solidFill>
                  <a:schemeClr val="tx1"/>
                </a:solidFill>
              </a:rPr>
              <a:t>A single linear layer connecting deviations to today and deviations from today. (Identical response in all regimes.)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C43B0-BDC1-F0EA-1515-ACEB6D97C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22/06/2026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F81FC-5062-6750-38E1-7529F9468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Implementation – </a:t>
            </a:r>
            <a:r>
              <a:rPr lang="en-GB" dirty="0" err="1"/>
              <a:t>NLinear</a:t>
            </a:r>
            <a:r>
              <a:rPr lang="en-GB" dirty="0"/>
              <a:t>, Day-Token and Per-Cell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43895-05D5-0D1F-6CC0-D76426F55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9</a:t>
            </a:fld>
            <a:endParaRPr lang="en-GB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A0ABC5-0E5C-1544-9FD3-E31D18F4B821}"/>
              </a:ext>
            </a:extLst>
          </p:cNvPr>
          <p:cNvGrpSpPr/>
          <p:nvPr/>
        </p:nvGrpSpPr>
        <p:grpSpPr>
          <a:xfrm>
            <a:off x="1368836" y="1793227"/>
            <a:ext cx="4508174" cy="4128618"/>
            <a:chOff x="1060174" y="1655957"/>
            <a:chExt cx="4508174" cy="412861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DB0C748-4C97-1163-6EEE-55A21310D946}"/>
                </a:ext>
              </a:extLst>
            </p:cNvPr>
            <p:cNvSpPr txBox="1"/>
            <p:nvPr/>
          </p:nvSpPr>
          <p:spPr>
            <a:xfrm>
              <a:off x="1060174" y="1821703"/>
              <a:ext cx="4508174" cy="3962872"/>
            </a:xfrm>
            <a:prstGeom prst="rect">
              <a:avLst/>
            </a:prstGeom>
            <a:solidFill>
              <a:schemeClr val="bg2"/>
            </a:solidFill>
            <a:ln w="2540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square" lIns="72000" tIns="72000" rIns="72000" bIns="72000" rtlCol="0">
              <a:noAutofit/>
            </a:bodyPr>
            <a:lstStyle/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r>
                <a:rPr lang="en-US" sz="1600" dirty="0">
                  <a:solidFill>
                    <a:schemeClr val="tx1"/>
                  </a:solidFill>
                </a:rPr>
                <a:t>Each day’s surface flattened to a single token.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4307063-0B1B-5E88-3715-AD7580CDD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5944" y="1655957"/>
              <a:ext cx="3544761" cy="3347830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8F88520-3BC8-5791-42DF-8AF165C9EEBA}"/>
              </a:ext>
            </a:extLst>
          </p:cNvPr>
          <p:cNvGrpSpPr/>
          <p:nvPr/>
        </p:nvGrpSpPr>
        <p:grpSpPr>
          <a:xfrm>
            <a:off x="6255246" y="1793227"/>
            <a:ext cx="4567918" cy="4128618"/>
            <a:chOff x="6563908" y="1655956"/>
            <a:chExt cx="4567918" cy="412861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7683722-0223-7182-D7D4-87F99620D6CC}"/>
                </a:ext>
              </a:extLst>
            </p:cNvPr>
            <p:cNvSpPr txBox="1"/>
            <p:nvPr/>
          </p:nvSpPr>
          <p:spPr>
            <a:xfrm>
              <a:off x="6563908" y="1821702"/>
              <a:ext cx="4567918" cy="3962872"/>
            </a:xfrm>
            <a:prstGeom prst="rect">
              <a:avLst/>
            </a:prstGeom>
            <a:solidFill>
              <a:schemeClr val="bg2"/>
            </a:solidFill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lIns="72000" tIns="72000" rIns="72000" bIns="72000" rtlCol="0">
              <a:noAutofit/>
            </a:bodyPr>
            <a:lstStyle/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r>
                <a:rPr lang="en-US" sz="1600" dirty="0">
                  <a:solidFill>
                    <a:schemeClr val="tx1"/>
                  </a:solidFill>
                </a:rPr>
                <a:t>Each cell of every day is its own token. 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6CF9010-9357-0992-B80F-1A8426344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151490" y="1655956"/>
              <a:ext cx="3392752" cy="32042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2905064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1FBFB-272C-D921-2C5E-851279E2B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Surface-aware Embeddings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52307BB-1FAA-AD3E-5304-19F8A2F8FD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70379" y="1037810"/>
            <a:ext cx="7806468" cy="463444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4DF5E-E0CA-30FC-6C5F-4E3EB6A3D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22/06/2026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75E6B-82EF-B35D-6020-2708AFF88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Implementation – Surface-aware Embeddings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CD0A8-C5B2-D3E2-EC84-453DD4E56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10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AD7F30-8CE5-4F3C-A2B6-DA0F8412982E}"/>
              </a:ext>
            </a:extLst>
          </p:cNvPr>
          <p:cNvSpPr txBox="1"/>
          <p:nvPr/>
        </p:nvSpPr>
        <p:spPr>
          <a:xfrm>
            <a:off x="1416424" y="190051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CB3363-E336-5F98-800D-3F9E618CBC6E}"/>
              </a:ext>
            </a:extLst>
          </p:cNvPr>
          <p:cNvSpPr txBox="1"/>
          <p:nvPr/>
        </p:nvSpPr>
        <p:spPr>
          <a:xfrm>
            <a:off x="2196353" y="177501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0A21C4-76DB-05BD-5D1A-871B1084E7EF}"/>
              </a:ext>
            </a:extLst>
          </p:cNvPr>
          <p:cNvSpPr txBox="1"/>
          <p:nvPr/>
        </p:nvSpPr>
        <p:spPr>
          <a:xfrm>
            <a:off x="325800" y="1219199"/>
            <a:ext cx="3844579" cy="3388660"/>
          </a:xfrm>
          <a:prstGeom prst="rect">
            <a:avLst/>
          </a:prstGeom>
          <a:solidFill>
            <a:schemeClr val="bg2"/>
          </a:solidFill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2000" tIns="72000" rIns="72000" bIns="7200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What’s added?</a:t>
            </a:r>
          </a:p>
          <a:p>
            <a:pPr marL="285750" indent="-2857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cell’s moneyness and maturity positions, learned as coordinate embeddings, are summed into its token.</a:t>
            </a:r>
          </a:p>
          <a:p>
            <a:pPr marL="285750" indent="-285750" algn="l">
              <a:lnSpc>
                <a:spcPct val="105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l">
              <a:lnSpc>
                <a:spcPct val="105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algn="l">
              <a:lnSpc>
                <a:spcPct val="105000"/>
              </a:lnSpc>
            </a:pPr>
            <a:r>
              <a:rPr lang="en-US" sz="2000" dirty="0">
                <a:latin typeface="+mj-lt"/>
              </a:rPr>
              <a:t>What does this offer?</a:t>
            </a:r>
          </a:p>
          <a:p>
            <a:pPr marL="285750" indent="-2857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models now know from where on the surface each token comes from, on top of knowing from which lag position.</a:t>
            </a:r>
          </a:p>
          <a:p>
            <a:pPr marL="285750" indent="-285750" algn="l">
              <a:lnSpc>
                <a:spcPct val="105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285750" indent="-285750" algn="l">
              <a:lnSpc>
                <a:spcPct val="105000"/>
              </a:lnSpc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55C736-BEEE-300E-EF13-99097A04490E}"/>
              </a:ext>
            </a:extLst>
          </p:cNvPr>
          <p:cNvSpPr txBox="1"/>
          <p:nvPr/>
        </p:nvSpPr>
        <p:spPr>
          <a:xfrm>
            <a:off x="325800" y="5723729"/>
            <a:ext cx="6487376" cy="2598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sz="1600" dirty="0"/>
              <a:t>The surface-aware embeddings remain identical for all SANTA variants.</a:t>
            </a:r>
          </a:p>
          <a:p>
            <a:pPr algn="l">
              <a:lnSpc>
                <a:spcPct val="105000"/>
              </a:lnSpc>
            </a:pP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97101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ED5F6-2E14-3E6B-DD5D-D534C1775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A69C8-CED5-DDF6-C424-69AA4B4F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Surface-aware Neural Tensor-attention (SANTA) Variants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FED6F-F7AF-188A-C99C-F206D0871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8836" y="795789"/>
            <a:ext cx="9454328" cy="997438"/>
          </a:xfrm>
          <a:solidFill>
            <a:schemeClr val="bg2"/>
          </a:solidFill>
          <a:ln w="25400">
            <a:solidFill>
              <a:srgbClr val="FF8C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72000" tIns="72000" rIns="72000" bIns="72000"/>
          <a:lstStyle/>
          <a:p>
            <a:r>
              <a:rPr lang="en-US" dirty="0">
                <a:solidFill>
                  <a:srgbClr val="FF8C00"/>
                </a:solidFill>
                <a:latin typeface="+mj-lt"/>
              </a:rPr>
              <a:t>SANTA-Temporal:</a:t>
            </a:r>
          </a:p>
          <a:p>
            <a:r>
              <a:rPr lang="en-US" sz="1600" dirty="0">
                <a:solidFill>
                  <a:schemeClr val="tx1"/>
                </a:solidFill>
              </a:rPr>
              <a:t>Identical to the Per-Cell transformer in everything apart from the learned coordinate embeddings.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80E5F-6F58-21D6-318E-1844910FD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22/06/2026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870A8-23D2-9D2B-F0C5-72C114453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Implementation – SANTA-Temporal, SANTA-Flat and SANTA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E6CDE-E868-018B-DCBB-CD249E6EF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11</a:t>
            </a:fld>
            <a:endParaRPr lang="en-GB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FD882C9-B1E4-12B3-0E02-675F2B3C61DD}"/>
              </a:ext>
            </a:extLst>
          </p:cNvPr>
          <p:cNvGrpSpPr/>
          <p:nvPr/>
        </p:nvGrpSpPr>
        <p:grpSpPr>
          <a:xfrm>
            <a:off x="1368836" y="1793227"/>
            <a:ext cx="4508174" cy="4128618"/>
            <a:chOff x="1060174" y="1655957"/>
            <a:chExt cx="4508174" cy="412861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F962907-5589-3C3F-E23C-DD04E78D6299}"/>
                </a:ext>
              </a:extLst>
            </p:cNvPr>
            <p:cNvSpPr txBox="1"/>
            <p:nvPr/>
          </p:nvSpPr>
          <p:spPr>
            <a:xfrm>
              <a:off x="1060174" y="1821703"/>
              <a:ext cx="4508174" cy="3962872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rgbClr val="AB7942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square" lIns="72000" tIns="72000" rIns="72000" bIns="72000" rtlCol="0">
              <a:noAutofit/>
            </a:bodyPr>
            <a:lstStyle/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r>
                <a:rPr lang="en-US" sz="1600" dirty="0">
                  <a:solidFill>
                    <a:schemeClr val="tx1"/>
                  </a:solidFill>
                </a:rPr>
                <a:t>Unconstrained spatial attention, followed by temporal attention.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8A4FD2E-34C0-DA35-7A84-4B6E794E2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595944" y="1655957"/>
              <a:ext cx="3544761" cy="3347829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5B62AF5-8CBC-BED4-FE3D-2673609361B9}"/>
              </a:ext>
            </a:extLst>
          </p:cNvPr>
          <p:cNvGrpSpPr/>
          <p:nvPr/>
        </p:nvGrpSpPr>
        <p:grpSpPr>
          <a:xfrm>
            <a:off x="6255246" y="1788726"/>
            <a:ext cx="4567918" cy="4133119"/>
            <a:chOff x="6563908" y="1651455"/>
            <a:chExt cx="4567918" cy="413311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12A8287-10DA-4245-5FB4-423490F40377}"/>
                </a:ext>
              </a:extLst>
            </p:cNvPr>
            <p:cNvSpPr txBox="1"/>
            <p:nvPr/>
          </p:nvSpPr>
          <p:spPr>
            <a:xfrm>
              <a:off x="6563908" y="1821702"/>
              <a:ext cx="4567918" cy="3962872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chemeClr val="accent4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lIns="108000" tIns="72000" rIns="72000" bIns="72000" rtlCol="0">
              <a:noAutofit/>
            </a:bodyPr>
            <a:lstStyle/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algn="ctr">
                <a:lnSpc>
                  <a:spcPct val="105000"/>
                </a:lnSpc>
              </a:pPr>
              <a:r>
                <a:rPr lang="en-US" sz="1600" dirty="0">
                  <a:solidFill>
                    <a:schemeClr val="tx1"/>
                  </a:solidFill>
                </a:rPr>
                <a:t>Attention across moneyness, then across maturity and finally across time.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68E438B-B973-FCAA-95CF-0CAD60E6B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113488" y="1651455"/>
              <a:ext cx="3468758" cy="3276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690720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6E709-A841-9067-AC83-B23D07F07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84BAC-CB5C-3B6B-9630-56B7E07D74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709" y="809021"/>
            <a:ext cx="5255046" cy="4823012"/>
          </a:xfrm>
          <a:solidFill>
            <a:schemeClr val="bg2"/>
          </a:solidFill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72000" tIns="72000" rIns="72000" bIns="72000"/>
          <a:lstStyle/>
          <a:p>
            <a:pPr algn="ctr"/>
            <a:r>
              <a:rPr lang="en-US" dirty="0">
                <a:latin typeface="+mj-lt"/>
              </a:rPr>
              <a:t>Point-wise Error</a:t>
            </a:r>
          </a:p>
          <a:p>
            <a:endParaRPr lang="en-US" sz="1100" dirty="0"/>
          </a:p>
          <a:p>
            <a:r>
              <a:rPr lang="en-US" sz="1600" dirty="0">
                <a:latin typeface="+mj-lt"/>
              </a:rPr>
              <a:t>MSE: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error metric the models were trained to </a:t>
            </a:r>
            <a:r>
              <a:rPr lang="en-US" sz="1600" dirty="0" err="1"/>
              <a:t>minimise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latin typeface="+mj-lt"/>
              </a:rPr>
              <a:t>MAE:</a:t>
            </a:r>
          </a:p>
          <a:p>
            <a:endParaRPr lang="en-US" sz="1600" dirty="0">
              <a:latin typeface="+mj-lt"/>
            </a:endParaRPr>
          </a:p>
          <a:p>
            <a:endParaRPr lang="en-US" sz="1600" dirty="0">
              <a:latin typeface="+mj-lt"/>
            </a:endParaRPr>
          </a:p>
          <a:p>
            <a:endParaRPr lang="en-GB" sz="1600" dirty="0"/>
          </a:p>
          <a:p>
            <a:r>
              <a:rPr lang="en-GB" sz="1600" dirty="0"/>
              <a:t>Surface cells are highly correlated — daily changes are mostly a shared level shift.</a:t>
            </a:r>
          </a:p>
          <a:p>
            <a:endParaRPr lang="en-GB" sz="1600" dirty="0"/>
          </a:p>
          <a:p>
            <a:r>
              <a:rPr lang="en-GB" sz="1600" dirty="0"/>
              <a:t>MSE / MAE mostly score the level: a level miss lands on every cell, so it dominates the summed error.</a:t>
            </a:r>
            <a:endParaRPr lang="en-US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0D59CA-A5FB-68D4-E7CF-101A7188F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5245" y="809021"/>
            <a:ext cx="5254251" cy="4823012"/>
          </a:xfrm>
          <a:solidFill>
            <a:schemeClr val="bg2"/>
          </a:solidFill>
          <a:ln w="25400">
            <a:solidFill>
              <a:schemeClr val="dk1"/>
            </a:solidFill>
          </a:ln>
        </p:spPr>
        <p:txBody>
          <a:bodyPr lIns="72000" tIns="72000" rIns="72000" bIns="72000"/>
          <a:lstStyle/>
          <a:p>
            <a:pPr algn="ctr"/>
            <a:r>
              <a:rPr lang="en-US" dirty="0">
                <a:latin typeface="+mj-lt"/>
              </a:rPr>
              <a:t>Cross-sectional Correlation</a:t>
            </a:r>
          </a:p>
          <a:p>
            <a:endParaRPr lang="en-US" sz="1100" dirty="0"/>
          </a:p>
          <a:p>
            <a:r>
              <a:rPr lang="en-US" sz="1600" dirty="0">
                <a:latin typeface="+mj-lt"/>
              </a:rPr>
              <a:t>Cross-sectional Rank IC: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Forecasted and </a:t>
            </a:r>
            <a:r>
              <a:rPr lang="en-US" sz="1600" dirty="0" err="1"/>
              <a:t>realised</a:t>
            </a:r>
            <a:r>
              <a:rPr lang="en-US" sz="1600" dirty="0"/>
              <a:t> change vs today, per cell: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Ranking changes of 110 cells, and correlating: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IC is invariant to a level shift, scoring </a:t>
            </a:r>
            <a:r>
              <a:rPr lang="en-GB" sz="1600" dirty="0"/>
              <a:t>only the shape: whether a model predicts which cells move most, relative to the rest of the surface.</a:t>
            </a:r>
            <a:endParaRPr lang="en-US" sz="16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45757-9FB6-6DC6-D782-682997022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22/06/2026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6337B6-EFCD-7927-B96B-C88EBF73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Implementation – Evaluation Metrics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0C4FF-73A8-7970-9635-893F45541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12</a:t>
            </a:fld>
            <a:endParaRPr lang="en-GB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F2BA769-7883-3BE1-C96D-005BB0FAFF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5219" y="3185755"/>
            <a:ext cx="3365500" cy="5334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1AEAB810-0BC0-87EC-06C6-65B5C86474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4419" y="2097627"/>
            <a:ext cx="3467100" cy="533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6308C21-EE79-EBF5-FEEB-1CD27C10B33D}"/>
              </a:ext>
            </a:extLst>
          </p:cNvPr>
          <p:cNvSpPr txBox="1"/>
          <p:nvPr/>
        </p:nvSpPr>
        <p:spPr>
          <a:xfrm>
            <a:off x="2151529" y="94129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40A698-9E87-FC14-7F1C-4B5638448B65}"/>
              </a:ext>
            </a:extLst>
          </p:cNvPr>
          <p:cNvSpPr txBox="1"/>
          <p:nvPr/>
        </p:nvSpPr>
        <p:spPr>
          <a:xfrm>
            <a:off x="681709" y="5811010"/>
            <a:ext cx="11212139" cy="30697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US" sz="1600" dirty="0">
                <a:solidFill>
                  <a:schemeClr val="tx1"/>
                </a:solidFill>
              </a:rPr>
              <a:t>All reported metrics are calculated in the </a:t>
            </a:r>
            <a:r>
              <a:rPr lang="en-US" sz="1600" dirty="0" err="1">
                <a:solidFill>
                  <a:schemeClr val="tx1"/>
                </a:solidFill>
              </a:rPr>
              <a:t>standardised</a:t>
            </a:r>
            <a:r>
              <a:rPr lang="en-US" sz="1600" dirty="0">
                <a:solidFill>
                  <a:schemeClr val="tx1"/>
                </a:solidFill>
              </a:rPr>
              <a:t> log-IV space in which the models were trained.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F8F9787-8C67-DE07-F6C2-BF04CF80A631}"/>
              </a:ext>
            </a:extLst>
          </p:cNvPr>
          <p:cNvCxnSpPr>
            <a:cxnSpLocks/>
          </p:cNvCxnSpPr>
          <p:nvPr/>
        </p:nvCxnSpPr>
        <p:spPr>
          <a:xfrm>
            <a:off x="858998" y="3845858"/>
            <a:ext cx="466164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Graphic 25">
            <a:extLst>
              <a:ext uri="{FF2B5EF4-FFF2-40B4-BE49-F238E27FC236}">
                <a16:creationId xmlns:a16="http://schemas.microsoft.com/office/drawing/2014/main" id="{E580A36B-A0CC-995D-7FA6-E8C7BC10D9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15520" y="3357205"/>
            <a:ext cx="2933700" cy="1905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0BAD2968-D239-45E0-6918-CE626E89CB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3270" y="2275427"/>
            <a:ext cx="3378200" cy="177800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528E1A7-B53F-CD20-9CC7-24E073D92735}"/>
              </a:ext>
            </a:extLst>
          </p:cNvPr>
          <p:cNvCxnSpPr>
            <a:cxnSpLocks/>
          </p:cNvCxnSpPr>
          <p:nvPr/>
        </p:nvCxnSpPr>
        <p:spPr>
          <a:xfrm>
            <a:off x="6551546" y="3928597"/>
            <a:ext cx="466164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19591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ADC40-C3AE-114E-83B3-6AAB6447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MSE Post-crisis Results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9D443AD-C06D-F384-9E8A-E699329DC8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4275971" y="919579"/>
            <a:ext cx="7599025" cy="501884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5643B-2F26-9B10-C6BA-DE82E51A3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22/06/2026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BCB3A-29CE-FE4F-2D1C-0DC03CFAF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Results – Post-crisis MSE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65887-2C0B-CE28-8C82-5230A0031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13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DB71DB-3D3C-8597-50E5-9316F673365C}"/>
                  </a:ext>
                </a:extLst>
              </p:cNvPr>
              <p:cNvSpPr txBox="1"/>
              <p:nvPr/>
            </p:nvSpPr>
            <p:spPr>
              <a:xfrm>
                <a:off x="317004" y="1141106"/>
                <a:ext cx="3905373" cy="4575786"/>
              </a:xfrm>
              <a:prstGeom prst="rect">
                <a:avLst/>
              </a:prstGeom>
              <a:solidFill>
                <a:schemeClr val="bg2"/>
              </a:solidFill>
              <a:ln w="254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72000" tIns="72000" rIns="72000" bIns="72000" rtlCol="0">
                <a:noAutofit/>
              </a:bodyPr>
              <a:lstStyle/>
              <a:p>
                <a:pPr marL="285750" indent="-285750" algn="l">
                  <a:lnSpc>
                    <a:spcPct val="105000"/>
                  </a:lnSpc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Short horizons: </a:t>
                </a:r>
                <a:r>
                  <a:rPr lang="en-US" sz="1600" dirty="0">
                    <a:solidFill>
                      <a:schemeClr val="tx1"/>
                    </a:solidFill>
                  </a:rPr>
                  <a:t>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+10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, persistence is hard to beat.</a:t>
                </a:r>
              </a:p>
              <a:p>
                <a:pPr marL="285750" indent="-285750" algn="l">
                  <a:lnSpc>
                    <a:spcPct val="105000"/>
                  </a:lnSpc>
                  <a:buFont typeface="Arial" panose="020B0604020202020204" pitchFamily="34" charset="0"/>
                  <a:buChar char="•"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 marL="285750" indent="-285750" algn="l">
                  <a:lnSpc>
                    <a:spcPct val="105000"/>
                  </a:lnSpc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Long horizons: </a:t>
                </a:r>
                <a:r>
                  <a:rPr lang="en-US" sz="1600" dirty="0">
                    <a:solidFill>
                      <a:schemeClr val="tx1"/>
                    </a:solidFill>
                  </a:rPr>
                  <a:t>SANTA records lowest MSE (and MAE)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+42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+63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285750" indent="-285750" algn="l">
                  <a:lnSpc>
                    <a:spcPct val="105000"/>
                  </a:lnSpc>
                  <a:buFont typeface="Arial" panose="020B0604020202020204" pitchFamily="34" charset="0"/>
                  <a:buChar char="•"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05000"/>
                  </a:lnSpc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Stability: </a:t>
                </a:r>
                <a:r>
                  <a:rPr lang="en-US" sz="1600" dirty="0">
                    <a:solidFill>
                      <a:schemeClr val="tx1"/>
                    </a:solidFill>
                  </a:rPr>
                  <a:t>SANTA-Flat’s cross-seed std is orders of magnitude larger than SANTA’s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+42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+63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– unconstrained spatial attention is less seed-reproducible.</a:t>
                </a:r>
              </a:p>
              <a:p>
                <a:pPr marL="285750" indent="-285750">
                  <a:lnSpc>
                    <a:spcPct val="105000"/>
                  </a:lnSpc>
                  <a:buFont typeface="Arial" panose="020B0604020202020204" pitchFamily="34" charset="0"/>
                  <a:buChar char="•"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05000"/>
                  </a:lnSpc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Regime pattern: </a:t>
                </a:r>
                <a:r>
                  <a:rPr lang="en-GB" sz="1600" dirty="0"/>
                  <a:t>when the surface level is falling sharply, VAR and Day-Token lead; when it's rising, they trail — they revert confidently toward a fitted long-run level.</a:t>
                </a: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DB71DB-3D3C-8597-50E5-9316F6733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04" y="1141106"/>
                <a:ext cx="3905373" cy="4575786"/>
              </a:xfrm>
              <a:prstGeom prst="rect">
                <a:avLst/>
              </a:prstGeom>
              <a:blipFill>
                <a:blip r:embed="rId4"/>
                <a:stretch>
                  <a:fillRect l="-968" r="-968"/>
                </a:stretch>
              </a:blipFill>
              <a:ln w="254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964915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3E14A-75F7-31E1-033D-3833D5067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FB111-4F06-93D0-BCED-C18DB5D6E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Cross-sectional Rank IC Results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944FBB4-AA9A-7B3E-217A-F294B4FF25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4966447" y="1147595"/>
            <a:ext cx="6908549" cy="456281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37241-78D6-D332-FCDA-CB1F3EE2D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22/06/2026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6B449-3333-2F7E-E295-B9373B265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Results – Cross-sectional Rank 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DEB72-6E62-02ED-9176-8243903DC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14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F43361-98E3-66C8-8046-300B57F14525}"/>
                  </a:ext>
                </a:extLst>
              </p:cNvPr>
              <p:cNvSpPr txBox="1"/>
              <p:nvPr/>
            </p:nvSpPr>
            <p:spPr>
              <a:xfrm>
                <a:off x="317004" y="919579"/>
                <a:ext cx="4559796" cy="5018841"/>
              </a:xfrm>
              <a:prstGeom prst="rect">
                <a:avLst/>
              </a:prstGeom>
              <a:solidFill>
                <a:schemeClr val="bg2"/>
              </a:solidFill>
              <a:ln w="254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72000" tIns="72000" rIns="72000" bIns="72000" rtlCol="0">
                <a:noAutofit/>
              </a:bodyPr>
              <a:lstStyle/>
              <a:p>
                <a:pPr algn="l">
                  <a:lnSpc>
                    <a:spcPct val="105000"/>
                  </a:lnSpc>
                </a:pPr>
                <a:r>
                  <a:rPr lang="en-US" sz="1600" i="1" dirty="0">
                    <a:solidFill>
                      <a:schemeClr val="tx1"/>
                    </a:solidFill>
                  </a:rPr>
                  <a:t>Setup:</a:t>
                </a:r>
              </a:p>
              <a:p>
                <a:pPr marL="285750" indent="-285750">
                  <a:lnSpc>
                    <a:spcPct val="105000"/>
                  </a:lnSpc>
                  <a:buFont typeface="Arial" panose="020B0604020202020204" pitchFamily="34" charset="0"/>
                  <a:buChar char="•"/>
                </a:pPr>
                <a:r>
                  <a:rPr lang="en-GB" sz="1600" b="1" dirty="0"/>
                  <a:t>Reversion rule: </a:t>
                </a:r>
                <a:r>
                  <a:rPr lang="en-GB" sz="1600" dirty="0"/>
                  <a:t>a naïve mean-reversion baseline — each cell predicted to revert toward its long-run average shape. </a:t>
                </a:r>
              </a:p>
              <a:p>
                <a:pPr marL="285750" indent="-285750">
                  <a:lnSpc>
                    <a:spcPct val="105000"/>
                  </a:lnSpc>
                  <a:buFont typeface="Arial" panose="020B0604020202020204" pitchFamily="34" charset="0"/>
                  <a:buChar char="•"/>
                </a:pPr>
                <a:endParaRPr lang="en-GB" sz="1000" dirty="0"/>
              </a:p>
              <a:p>
                <a:pPr marL="285750" indent="-285750">
                  <a:lnSpc>
                    <a:spcPct val="105000"/>
                  </a:lnSpc>
                  <a:buFont typeface="Arial" panose="020B0604020202020204" pitchFamily="34" charset="0"/>
                  <a:buChar char="•"/>
                </a:pPr>
                <a:r>
                  <a:rPr lang="en-GB" sz="1600" b="1" dirty="0"/>
                  <a:t>IC rises with horizon:</a:t>
                </a:r>
                <a:r>
                  <a:rPr lang="en-GB" sz="1600" dirty="0"/>
                  <a:t> directional reversion accumulates; random daily shocks partly cancel — so signal outpaces noise further out.</a:t>
                </a:r>
              </a:p>
              <a:p>
                <a:pPr marL="285750" indent="-285750">
                  <a:lnSpc>
                    <a:spcPct val="105000"/>
                  </a:lnSpc>
                  <a:buFont typeface="Arial" panose="020B0604020202020204" pitchFamily="34" charset="0"/>
                  <a:buChar char="•"/>
                </a:pPr>
                <a:endParaRPr lang="en-GB" sz="1100" dirty="0"/>
              </a:p>
              <a:p>
                <a:pPr>
                  <a:lnSpc>
                    <a:spcPct val="105000"/>
                  </a:lnSpc>
                </a:pPr>
                <a:r>
                  <a:rPr lang="en-GB" sz="1600" i="1" dirty="0">
                    <a:solidFill>
                      <a:schemeClr val="tx1"/>
                    </a:solidFill>
                  </a:rPr>
                  <a:t>Findings:</a:t>
                </a:r>
              </a:p>
              <a:p>
                <a:pPr marL="285750" indent="-285750">
                  <a:lnSpc>
                    <a:spcPct val="105000"/>
                  </a:lnSpc>
                  <a:buFont typeface="Arial" panose="020B0604020202020204" pitchFamily="34" charset="0"/>
                  <a:buChar char="•"/>
                </a:pPr>
                <a:r>
                  <a:rPr lang="en-GB" sz="1600" b="1" dirty="0"/>
                  <a:t>Short horizons:</a:t>
                </a:r>
                <a:r>
                  <a:rPr lang="en-GB" sz="1600" dirty="0"/>
                  <a:t> at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+10 </m:t>
                    </m:r>
                  </m:oMath>
                </a14:m>
                <a:r>
                  <a:rPr lang="en-GB" sz="1600" dirty="0"/>
                  <a:t>no model beats the rule.</a:t>
                </a:r>
              </a:p>
              <a:p>
                <a:pPr marL="285750" indent="-285750">
                  <a:lnSpc>
                    <a:spcPct val="105000"/>
                  </a:lnSpc>
                  <a:buFont typeface="Arial" panose="020B0604020202020204" pitchFamily="34" charset="0"/>
                  <a:buChar char="•"/>
                </a:pPr>
                <a:endParaRPr lang="en-GB" sz="1000" dirty="0"/>
              </a:p>
              <a:p>
                <a:pPr marL="285750" indent="-285750">
                  <a:lnSpc>
                    <a:spcPct val="105000"/>
                  </a:lnSpc>
                  <a:buFont typeface="Arial" panose="020B0604020202020204" pitchFamily="34" charset="0"/>
                  <a:buChar char="•"/>
                </a:pPr>
                <a:r>
                  <a:rPr lang="en-GB" sz="1600" b="1" dirty="0">
                    <a:solidFill>
                      <a:schemeClr val="tx1"/>
                    </a:solidFill>
                  </a:rPr>
                  <a:t>Long horizons: </a:t>
                </a:r>
                <a:r>
                  <a:rPr lang="en-GB" sz="1600" dirty="0">
                    <a:solidFill>
                      <a:schemeClr val="tx1"/>
                    </a:solidFill>
                  </a:rPr>
                  <a:t>SANTA records the highest IC from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+21 </m:t>
                    </m:r>
                  </m:oMath>
                </a14:m>
                <a:r>
                  <a:rPr lang="en-GB" sz="1600" dirty="0">
                    <a:solidFill>
                      <a:schemeClr val="tx1"/>
                    </a:solidFill>
                  </a:rPr>
                  <a:t>onwards.</a:t>
                </a:r>
              </a:p>
              <a:p>
                <a:pPr marL="285750" indent="-285750">
                  <a:lnSpc>
                    <a:spcPct val="105000"/>
                  </a:lnSpc>
                  <a:buFont typeface="Arial" panose="020B0604020202020204" pitchFamily="34" charset="0"/>
                  <a:buChar char="•"/>
                </a:pPr>
                <a:endParaRPr lang="en-GB" sz="1000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05000"/>
                  </a:lnSpc>
                  <a:buFont typeface="Arial" panose="020B0604020202020204" pitchFamily="34" charset="0"/>
                  <a:buChar char="•"/>
                </a:pPr>
                <a:r>
                  <a:rPr lang="en-GB" sz="1600" b="1" dirty="0"/>
                  <a:t>Regime caveat:</a:t>
                </a:r>
                <a:r>
                  <a:rPr lang="en-GB" sz="1600" dirty="0"/>
                  <a:t> through 2020–21 the surface's shape stopped reverting to its training-set norm — the rule and the SANTA variants fell together.</a:t>
                </a:r>
                <a:endParaRPr lang="en-US" sz="1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F43361-98E3-66C8-8046-300B57F14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04" y="919579"/>
                <a:ext cx="4559796" cy="5018841"/>
              </a:xfrm>
              <a:prstGeom prst="rect">
                <a:avLst/>
              </a:prstGeom>
              <a:blipFill>
                <a:blip r:embed="rId4"/>
                <a:stretch>
                  <a:fillRect l="-831"/>
                </a:stretch>
              </a:blipFill>
              <a:ln w="254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4012343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4A55B-8ECA-6A61-1737-459B43617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DC950-0D48-13DD-9638-24801E11D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5853" y="836520"/>
            <a:ext cx="8540294" cy="1219200"/>
          </a:xfrm>
          <a:solidFill>
            <a:schemeClr val="accent3">
              <a:lumMod val="40000"/>
              <a:lumOff val="60000"/>
            </a:schemeClr>
          </a:solidFill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72000" rIns="72000" bIns="0"/>
          <a:lstStyle/>
          <a:p>
            <a:r>
              <a:rPr lang="en-US" dirty="0">
                <a:latin typeface="+mj-lt"/>
              </a:rPr>
              <a:t>Research Question:</a:t>
            </a:r>
          </a:p>
          <a:p>
            <a:endParaRPr lang="en-US" sz="1000" dirty="0"/>
          </a:p>
          <a:p>
            <a:r>
              <a:rPr lang="en-GB" sz="1600" dirty="0"/>
              <a:t>Is a model that respects the surface's structure better able to forecast the IV surface, multiple steps ahead, from its own history?</a:t>
            </a:r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3D6DF-7B58-83E8-9780-91D721117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22/06/2026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F01B4-6F18-50EE-6261-2038870D9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Conclusions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BA202-D849-CACF-F21C-251B78EE3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15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8D4609-6494-038A-D643-C86DDA2FEC2E}"/>
              </a:ext>
            </a:extLst>
          </p:cNvPr>
          <p:cNvSpPr txBox="1"/>
          <p:nvPr/>
        </p:nvSpPr>
        <p:spPr>
          <a:xfrm>
            <a:off x="833718" y="247425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2B1082-2F89-48EE-9169-F979ACA8E557}"/>
              </a:ext>
            </a:extLst>
          </p:cNvPr>
          <p:cNvSpPr txBox="1"/>
          <p:nvPr/>
        </p:nvSpPr>
        <p:spPr>
          <a:xfrm>
            <a:off x="325619" y="2339788"/>
            <a:ext cx="11540762" cy="317659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US" sz="1600" b="1" dirty="0">
                <a:solidFill>
                  <a:schemeClr val="tx1"/>
                </a:solidFill>
              </a:rPr>
              <a:t>Yes – but selectively. </a:t>
            </a:r>
          </a:p>
          <a:p>
            <a:pPr>
              <a:lnSpc>
                <a:spcPct val="105000"/>
              </a:lnSpc>
            </a:pPr>
            <a:endParaRPr lang="en-US" sz="1050" b="1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en-GB" sz="1600" dirty="0"/>
              <a:t>SANTA is best on every metric at the two longest horizons — uniquely strong on both level and shape.</a:t>
            </a:r>
          </a:p>
          <a:p>
            <a:endParaRPr lang="en-GB" sz="3200" dirty="0"/>
          </a:p>
          <a:p>
            <a:r>
              <a:rPr lang="en-GB" sz="1600" dirty="0"/>
              <a:t>The ladder isolates which structure earned its place:</a:t>
            </a:r>
          </a:p>
          <a:p>
            <a:endParaRPr lang="en-GB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Anchoring on persistence</a:t>
            </a:r>
            <a:r>
              <a:rPr lang="en-GB" sz="1600" dirty="0"/>
              <a:t> — the persistent behaviour is built in; every model beats persistence from the first step.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GB" sz="1600" b="1" dirty="0"/>
              <a:t>Coordinate embeddings</a:t>
            </a:r>
            <a:r>
              <a:rPr lang="en-GB" sz="1600" dirty="0"/>
              <a:t> — carry most of the cross-sectional shape skill, separating the SANTA variants from the field; spatial </a:t>
            </a:r>
          </a:p>
          <a:p>
            <a:pPr>
              <a:lnSpc>
                <a:spcPct val="105000"/>
              </a:lnSpc>
            </a:pPr>
            <a:r>
              <a:rPr lang="en-GB" sz="1600" dirty="0"/>
              <a:t>       attention adds little more.</a:t>
            </a:r>
          </a:p>
          <a:p>
            <a:pPr>
              <a:lnSpc>
                <a:spcPct val="105000"/>
              </a:lnSpc>
            </a:pPr>
            <a:endParaRPr lang="en-US" sz="1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GB" sz="1600" b="1" dirty="0"/>
              <a:t>Axial attention</a:t>
            </a:r>
            <a:r>
              <a:rPr lang="en-GB" sz="1600" dirty="0"/>
              <a:t> — SANTA-Flat's joint attention isn't seed-reproducible; factoring along the two axes restores stability — the </a:t>
            </a:r>
          </a:p>
          <a:p>
            <a:pPr>
              <a:lnSpc>
                <a:spcPct val="105000"/>
              </a:lnSpc>
            </a:pPr>
            <a:r>
              <a:rPr lang="en-GB" sz="1600" dirty="0"/>
              <a:t>      better-matched prior</a:t>
            </a:r>
            <a:endParaRPr 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00735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949D-B313-8FA1-6A8A-7E487FDC5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5D8AA-AC5E-4F33-9224-F1F2126D2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93535" y="1264023"/>
            <a:ext cx="4215141" cy="4150659"/>
          </a:xfrm>
          <a:solidFill>
            <a:schemeClr val="bg2"/>
          </a:solidFill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72000" tIns="72000" rIns="72000" bIns="72000"/>
          <a:lstStyle/>
          <a:p>
            <a:pPr algn="ctr"/>
            <a:r>
              <a:rPr lang="en-US" dirty="0">
                <a:latin typeface="+mj-lt"/>
              </a:rPr>
              <a:t>Limitations</a:t>
            </a:r>
          </a:p>
          <a:p>
            <a:pPr algn="ctr"/>
            <a:endParaRPr lang="en-US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b="1" dirty="0"/>
              <a:t>One index, one 4-year window</a:t>
            </a:r>
            <a:r>
              <a:rPr lang="en-GB" sz="1600" dirty="0"/>
              <a:t> — the findings hold in this period, not a general rule.</a:t>
            </a:r>
          </a:p>
          <a:p>
            <a:endParaRPr lang="en-GB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b="1" dirty="0"/>
              <a:t>No hyperparameter tuning</a:t>
            </a:r>
            <a:r>
              <a:rPr lang="en-GB" sz="1600" dirty="0"/>
              <a:t> — results are a floor; the ladder's ordering is unproven under a search.</a:t>
            </a:r>
          </a:p>
          <a:p>
            <a:endParaRPr lang="en-GB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b="1" dirty="0"/>
              <a:t>No economic evaluation</a:t>
            </a:r>
            <a:r>
              <a:rPr lang="en-GB" sz="1600" dirty="0"/>
              <a:t> — the edge is small, and untested against transaction costs.</a:t>
            </a:r>
            <a:endParaRPr lang="en-US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C343A-7A3C-280D-DB61-FF2A68E44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264023"/>
            <a:ext cx="4215140" cy="4150659"/>
          </a:xfrm>
          <a:solidFill>
            <a:schemeClr val="bg2"/>
          </a:solidFill>
          <a:ln w="25400">
            <a:solidFill>
              <a:schemeClr val="dk1"/>
            </a:solidFill>
          </a:ln>
        </p:spPr>
        <p:txBody>
          <a:bodyPr lIns="72000" tIns="72000" rIns="72000" bIns="72000"/>
          <a:lstStyle/>
          <a:p>
            <a:pPr algn="ctr"/>
            <a:r>
              <a:rPr lang="en-US" dirty="0">
                <a:latin typeface="+mj-lt"/>
              </a:rPr>
              <a:t>Future Work</a:t>
            </a:r>
          </a:p>
          <a:p>
            <a:pPr algn="ctr"/>
            <a:endParaRPr lang="en-US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b="1" dirty="0"/>
              <a:t>Conditioning on external drivers</a:t>
            </a:r>
            <a:r>
              <a:rPr lang="en-GB" sz="1600" dirty="0"/>
              <a:t> — forecasts conditioned on exogenous variables (e.g., index returns) could lift performance beyond the history-only setting employed here.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b="1" dirty="0"/>
              <a:t>Broadening the test</a:t>
            </a:r>
            <a:r>
              <a:rPr lang="en-GB" sz="1600" dirty="0"/>
              <a:t> — repeating the study on other </a:t>
            </a:r>
            <a:r>
              <a:rPr lang="en-GB" sz="1600" dirty="0" err="1"/>
              <a:t>underlyings</a:t>
            </a:r>
            <a:r>
              <a:rPr lang="en-GB" sz="1600" dirty="0"/>
              <a:t> (other equity indices, single-name equities, FX) would test whether the rankings generalise.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3CCE5-8A4F-6379-CDC9-4E77DD5CD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22/06/2026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7AA10-5FBA-98D2-2F58-BEAD13C1C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Limitations and Future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88B957-13D5-1EFD-B27B-D8754EFFF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2120100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C92A0-DAFD-2CE4-F5BD-315A0135C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500" y="3338513"/>
            <a:ext cx="9144000" cy="18288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972F5-B010-8428-D0AA-F619C83E71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00" y="5878513"/>
            <a:ext cx="7809753" cy="652463"/>
          </a:xfrm>
        </p:spPr>
        <p:txBody>
          <a:bodyPr/>
          <a:lstStyle/>
          <a:p>
            <a:r>
              <a:rPr lang="en-GB" dirty="0"/>
              <a:t>High-Dimensional Financial Data Analysis with Tensor Attention-Based Neural Networks </a:t>
            </a:r>
          </a:p>
          <a:p>
            <a:endParaRPr lang="en-GB" sz="800" dirty="0"/>
          </a:p>
          <a:p>
            <a:r>
              <a:rPr lang="en-US" dirty="0"/>
              <a:t>22/06/2026</a:t>
            </a:r>
          </a:p>
        </p:txBody>
      </p:sp>
    </p:spTree>
    <p:extLst>
      <p:ext uri="{BB962C8B-B14F-4D97-AF65-F5344CB8AC3E}">
        <p14:creationId xmlns:p14="http://schemas.microsoft.com/office/powerpoint/2010/main" val="2287451629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28EF4-D59F-58A4-61EC-8E657B118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A: Sample Forecasts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308DCC4-8807-DA17-3253-D6947DCDA9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7286" y="679450"/>
            <a:ext cx="8237427" cy="54991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61037-D299-E6AB-F829-F730120B8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22/06/2026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1D7E5-E968-F2CA-6650-E55EA747C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Appendix A: Sample Forecasts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0AF6B-D9C1-AD0B-DACD-3D954D4A3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6869600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322EC-1F35-A703-D10A-4BFF44930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B: In-depth Results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9591E-702A-EAE2-2FA2-259AF5E156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762001"/>
            <a:ext cx="5583238" cy="5499100"/>
          </a:xfrm>
        </p:spPr>
        <p:txBody>
          <a:bodyPr/>
          <a:lstStyle/>
          <a:p>
            <a:pPr algn="ctr"/>
            <a:r>
              <a:rPr lang="en-US" dirty="0">
                <a:latin typeface="+mj-lt"/>
              </a:rPr>
              <a:t>COVID Crisis Period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D8643-4873-424A-FA22-D2D80561DC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762001"/>
            <a:ext cx="5583238" cy="5499100"/>
          </a:xfrm>
        </p:spPr>
        <p:txBody>
          <a:bodyPr/>
          <a:lstStyle/>
          <a:p>
            <a:pPr algn="ctr"/>
            <a:r>
              <a:rPr lang="en-US" dirty="0">
                <a:latin typeface="+mj-lt"/>
              </a:rPr>
              <a:t>Post-crisis Period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679F5-B765-0B84-0931-0F30E0FCC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22/06/2026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25500-CEEB-C3E0-DB81-DAABF481F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Appendix B: In-depth Results Tables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256E7-FAF6-33B5-83E8-3CEDDF708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19</a:t>
            </a:fld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73CD92A-CDD1-1AC4-87B7-737FCEBC0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68" y="1120419"/>
            <a:ext cx="4496245" cy="51406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1D6D40F-BA97-F020-E5A2-BB53352418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9152" y="1120419"/>
            <a:ext cx="4390380" cy="514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66452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ICL PPT Theme">
  <a:themeElements>
    <a:clrScheme name="Imperial colour theme">
      <a:dk1>
        <a:sysClr val="windowText" lastClr="000000"/>
      </a:dk1>
      <a:lt1>
        <a:sysClr val="window" lastClr="FFFFFF"/>
      </a:lt1>
      <a:dk2>
        <a:srgbClr val="000080"/>
      </a:dk2>
      <a:lt2>
        <a:srgbClr val="F5F5F5"/>
      </a:lt2>
      <a:accent1>
        <a:srgbClr val="0000CD"/>
      </a:accent1>
      <a:accent2>
        <a:srgbClr val="C71585"/>
      </a:accent2>
      <a:accent3>
        <a:srgbClr val="7B68EE"/>
      </a:accent3>
      <a:accent4>
        <a:srgbClr val="FF0000"/>
      </a:accent4>
      <a:accent5>
        <a:srgbClr val="FF4500"/>
      </a:accent5>
      <a:accent6>
        <a:srgbClr val="006400"/>
      </a:accent6>
      <a:hlink>
        <a:srgbClr val="000080"/>
      </a:hlink>
      <a:folHlink>
        <a:srgbClr val="C71585"/>
      </a:folHlink>
    </a:clrScheme>
    <a:fontScheme name="Imperial Sans font theme">
      <a:majorFont>
        <a:latin typeface="Imperial Sans Text Semibold"/>
        <a:ea typeface=""/>
        <a:cs typeface=""/>
      </a:majorFont>
      <a:minorFont>
        <a:latin typeface="Imperial Sans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05000"/>
          </a:lnSpc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Imperial_PowerPoint_16_9_simplified template_with_instrucs" id="{38421921-3039-B248-A495-CC57B2108B93}" vid="{6BE467B1-935B-C34C-AA9F-EEAB470F33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9AEDE06C8B0342A6C4D20B29F8488E" ma:contentTypeVersion="16" ma:contentTypeDescription="Create a new document." ma:contentTypeScope="" ma:versionID="a4578b94c4c0df5c4f162bb3027c7c05">
  <xsd:schema xmlns:xsd="http://www.w3.org/2001/XMLSchema" xmlns:xs="http://www.w3.org/2001/XMLSchema" xmlns:p="http://schemas.microsoft.com/office/2006/metadata/properties" xmlns:ns2="6d1e2927-7a8e-4755-b112-de5aaecc1c06" xmlns:ns3="df1ede62-d5df-40e3-a8ec-fa53b1631612" xmlns:ns4="d0201ca7-26fa-426c-b12d-c4c6e5857dcc" targetNamespace="http://schemas.microsoft.com/office/2006/metadata/properties" ma:root="true" ma:fieldsID="8c51cfd87b0abe227219b0f2986567bc" ns2:_="" ns3:_="" ns4:_="">
    <xsd:import namespace="6d1e2927-7a8e-4755-b112-de5aaecc1c06"/>
    <xsd:import namespace="df1ede62-d5df-40e3-a8ec-fa53b1631612"/>
    <xsd:import namespace="d0201ca7-26fa-426c-b12d-c4c6e5857d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1e2927-7a8e-4755-b112-de5aaecc1c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4661dae-d6df-48fc-a54e-a577d2899e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1ede62-d5df-40e3-a8ec-fa53b163161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201ca7-26fa-426c-b12d-c4c6e5857dcc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04698054-6ef3-4a0a-8632-c02544f20d65}" ma:internalName="TaxCatchAll" ma:showField="CatchAllData" ma:web="d0201ca7-26fa-426c-b12d-c4c6e5857d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1e2927-7a8e-4755-b112-de5aaecc1c06">
      <Terms xmlns="http://schemas.microsoft.com/office/infopath/2007/PartnerControls"/>
    </lcf76f155ced4ddcb4097134ff3c332f>
    <TaxCatchAll xmlns="d0201ca7-26fa-426c-b12d-c4c6e5857d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6BBD15-A4C1-4D16-8F2C-821B05214E4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1e2927-7a8e-4755-b112-de5aaecc1c06"/>
    <ds:schemaRef ds:uri="df1ede62-d5df-40e3-a8ec-fa53b1631612"/>
    <ds:schemaRef ds:uri="d0201ca7-26fa-426c-b12d-c4c6e5857d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2739277-F501-4DD3-AC3E-E62D288923D9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df1ede62-d5df-40e3-a8ec-fa53b1631612"/>
    <ds:schemaRef ds:uri="http://purl.org/dc/terms/"/>
    <ds:schemaRef ds:uri="6d1e2927-7a8e-4755-b112-de5aaecc1c06"/>
    <ds:schemaRef ds:uri="http://purl.org/dc/elements/1.1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d0201ca7-26fa-426c-b12d-c4c6e5857dcc"/>
  </ds:schemaRefs>
</ds:datastoreItem>
</file>

<file path=customXml/itemProps3.xml><?xml version="1.0" encoding="utf-8"?>
<ds:datastoreItem xmlns:ds="http://schemas.openxmlformats.org/officeDocument/2006/customXml" ds:itemID="{4B2545B1-F5A6-481C-9ECA-608EE6E0B99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ICL PPT Theme</Template>
  <TotalTime>8654</TotalTime>
  <Words>2788</Words>
  <Application>Microsoft Macintosh PowerPoint</Application>
  <PresentationFormat>Widescreen</PresentationFormat>
  <Paragraphs>355</Paragraphs>
  <Slides>19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Cambria Math</vt:lpstr>
      <vt:lpstr>Imperial Sans Text</vt:lpstr>
      <vt:lpstr>Imperial Sans Text Medium</vt:lpstr>
      <vt:lpstr>Imperial Sans Text Semibold</vt:lpstr>
      <vt:lpstr>Inter Medium</vt:lpstr>
      <vt:lpstr>ICL PPT Theme</vt:lpstr>
      <vt:lpstr>PowerPoint Presentation</vt:lpstr>
      <vt:lpstr>Forecasting the Implied Volatility Surface</vt:lpstr>
      <vt:lpstr>IV Surface Structure</vt:lpstr>
      <vt:lpstr>Building the Dataset</vt:lpstr>
      <vt:lpstr>Representative constructed surfaces</vt:lpstr>
      <vt:lpstr>The Forecasting Task</vt:lpstr>
      <vt:lpstr>Classical Benchmarks</vt:lpstr>
      <vt:lpstr>Model Implementation: the Shared Pipeline</vt:lpstr>
      <vt:lpstr>Linear Floor and Plain Transformers</vt:lpstr>
      <vt:lpstr>Surface-aware Embeddings</vt:lpstr>
      <vt:lpstr>Surface-aware Neural Tensor-attention (SANTA) Variants</vt:lpstr>
      <vt:lpstr>Evaluation Metrics</vt:lpstr>
      <vt:lpstr>MSE Post-crisis Results</vt:lpstr>
      <vt:lpstr>Cross-sectional Rank IC Results</vt:lpstr>
      <vt:lpstr>Conclusions</vt:lpstr>
      <vt:lpstr>Limitations and Future Work</vt:lpstr>
      <vt:lpstr>Thank you</vt:lpstr>
      <vt:lpstr>Appendix A: Sample Forecasts</vt:lpstr>
      <vt:lpstr>Appendix B: In-depth Results Tables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Zioulis, Yannis</dc:creator>
  <cp:lastModifiedBy>Zioulis, Yannis</cp:lastModifiedBy>
  <cp:revision>5</cp:revision>
  <dcterms:created xsi:type="dcterms:W3CDTF">2026-06-16T19:44:48Z</dcterms:created>
  <dcterms:modified xsi:type="dcterms:W3CDTF">2026-06-24T14:24:16Z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0x010100D99AEDE06C8B0342A6C4D20B29F8488E</vt:lpwstr>
  </property>
  <property fmtid="{D5CDD505-2E9C-101B-9397-08002B2CF9AE}" pid="3" name="MediaServiceImageTags">
    <vt:lpwstr/>
  </property>
</Properties>
</file>